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image" Target="../media/image-5-1.png"/><Relationship Id="rId4" Type="http://schemas.openxmlformats.org/officeDocument/2006/relationships/image" Target="../media/image-5-1.png"/><Relationship Id="rId5" Type="http://schemas.openxmlformats.org/officeDocument/2006/relationships/image" Target="../media/image-5-1.png"/><Relationship Id="rId6" Type="http://schemas.openxmlformats.org/officeDocument/2006/relationships/image" Target="../media/image-5-1.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23D"/>
        </a:solidFill>
      </p:bgPr>
    </p:bg>
    <p:spTree>
      <p:nvGrpSpPr>
        <p:cNvPr id="1" name=""/>
        <p:cNvGrpSpPr/>
        <p:nvPr/>
      </p:nvGrpSpPr>
      <p:grpSpPr>
        <a:xfrm>
          <a:off x="0" y="0"/>
          <a:ext cx="0" cy="0"/>
          <a:chOff x="0" y="0"/>
          <a:chExt cx="0" cy="0"/>
        </a:xfrm>
      </p:grpSpPr>
      <p:sp>
        <p:nvSpPr>
          <p:cNvPr id="2" name="Shape 0"/>
          <p:cNvSpPr/>
          <p:nvPr/>
        </p:nvSpPr>
        <p:spPr>
          <a:xfrm flipV="1">
            <a:off x="9509760" y="822960"/>
            <a:ext cx="1371600" cy="365760"/>
          </a:xfrm>
          <a:prstGeom prst="line">
            <a:avLst/>
          </a:prstGeom>
          <a:noFill/>
          <a:ln w="15875">
            <a:solidFill>
              <a:srgbClr val="2C4874"/>
            </a:solidFill>
            <a:prstDash val="solid"/>
          </a:ln>
        </p:spPr>
      </p:sp>
      <p:sp>
        <p:nvSpPr>
          <p:cNvPr id="3" name="Shape 1"/>
          <p:cNvSpPr/>
          <p:nvPr/>
        </p:nvSpPr>
        <p:spPr>
          <a:xfrm>
            <a:off x="10881360" y="822960"/>
            <a:ext cx="640080" cy="1097280"/>
          </a:xfrm>
          <a:prstGeom prst="line">
            <a:avLst/>
          </a:prstGeom>
          <a:noFill/>
          <a:ln w="15875">
            <a:solidFill>
              <a:srgbClr val="2C4874"/>
            </a:solidFill>
            <a:prstDash val="solid"/>
          </a:ln>
        </p:spPr>
      </p:sp>
      <p:sp>
        <p:nvSpPr>
          <p:cNvPr id="4" name="Shape 2"/>
          <p:cNvSpPr/>
          <p:nvPr/>
        </p:nvSpPr>
        <p:spPr>
          <a:xfrm flipH="1">
            <a:off x="10332720" y="1920240"/>
            <a:ext cx="1188720" cy="457200"/>
          </a:xfrm>
          <a:prstGeom prst="line">
            <a:avLst/>
          </a:prstGeom>
          <a:noFill/>
          <a:ln w="15875">
            <a:solidFill>
              <a:srgbClr val="2C4874"/>
            </a:solidFill>
            <a:prstDash val="solid"/>
          </a:ln>
        </p:spPr>
      </p:sp>
      <p:sp>
        <p:nvSpPr>
          <p:cNvPr id="5" name="Shape 3"/>
          <p:cNvSpPr/>
          <p:nvPr/>
        </p:nvSpPr>
        <p:spPr>
          <a:xfrm flipH="1" flipV="1">
            <a:off x="9509760" y="1188720"/>
            <a:ext cx="822960" cy="1188720"/>
          </a:xfrm>
          <a:prstGeom prst="line">
            <a:avLst/>
          </a:prstGeom>
          <a:noFill/>
          <a:ln w="15875">
            <a:solidFill>
              <a:srgbClr val="2C4874"/>
            </a:solidFill>
            <a:prstDash val="solid"/>
          </a:ln>
        </p:spPr>
      </p:sp>
      <p:sp>
        <p:nvSpPr>
          <p:cNvPr id="6" name="Shape 4"/>
          <p:cNvSpPr/>
          <p:nvPr/>
        </p:nvSpPr>
        <p:spPr>
          <a:xfrm flipH="1">
            <a:off x="9144000" y="1188720"/>
            <a:ext cx="365760" cy="1097280"/>
          </a:xfrm>
          <a:prstGeom prst="line">
            <a:avLst/>
          </a:prstGeom>
          <a:noFill/>
          <a:ln w="15875">
            <a:solidFill>
              <a:srgbClr val="2C4874"/>
            </a:solidFill>
            <a:prstDash val="solid"/>
          </a:ln>
        </p:spPr>
      </p:sp>
      <p:sp>
        <p:nvSpPr>
          <p:cNvPr id="7" name="Shape 5"/>
          <p:cNvSpPr/>
          <p:nvPr/>
        </p:nvSpPr>
        <p:spPr>
          <a:xfrm flipH="1">
            <a:off x="9692640" y="2377440"/>
            <a:ext cx="640080" cy="1005840"/>
          </a:xfrm>
          <a:prstGeom prst="line">
            <a:avLst/>
          </a:prstGeom>
          <a:noFill/>
          <a:ln w="15875">
            <a:solidFill>
              <a:srgbClr val="2C4874"/>
            </a:solidFill>
            <a:prstDash val="solid"/>
          </a:ln>
        </p:spPr>
      </p:sp>
      <p:sp>
        <p:nvSpPr>
          <p:cNvPr id="8" name="Shape 6"/>
          <p:cNvSpPr/>
          <p:nvPr/>
        </p:nvSpPr>
        <p:spPr>
          <a:xfrm flipH="1" flipV="1">
            <a:off x="8595360" y="1463040"/>
            <a:ext cx="548640" cy="822960"/>
          </a:xfrm>
          <a:prstGeom prst="line">
            <a:avLst/>
          </a:prstGeom>
          <a:noFill/>
          <a:ln w="15875">
            <a:solidFill>
              <a:srgbClr val="2C4874"/>
            </a:solidFill>
            <a:prstDash val="solid"/>
          </a:ln>
        </p:spPr>
      </p:sp>
      <p:sp>
        <p:nvSpPr>
          <p:cNvPr id="9" name="Shape 7"/>
          <p:cNvSpPr/>
          <p:nvPr/>
        </p:nvSpPr>
        <p:spPr>
          <a:xfrm flipH="1">
            <a:off x="8412480" y="2286000"/>
            <a:ext cx="731520" cy="640080"/>
          </a:xfrm>
          <a:prstGeom prst="line">
            <a:avLst/>
          </a:prstGeom>
          <a:noFill/>
          <a:ln w="15875">
            <a:solidFill>
              <a:srgbClr val="2C4874"/>
            </a:solidFill>
            <a:prstDash val="solid"/>
          </a:ln>
        </p:spPr>
      </p:sp>
      <p:sp>
        <p:nvSpPr>
          <p:cNvPr id="10" name="Shape 8"/>
          <p:cNvSpPr/>
          <p:nvPr/>
        </p:nvSpPr>
        <p:spPr>
          <a:xfrm flipH="1">
            <a:off x="11064240" y="1920240"/>
            <a:ext cx="457200" cy="1280160"/>
          </a:xfrm>
          <a:prstGeom prst="line">
            <a:avLst/>
          </a:prstGeom>
          <a:noFill/>
          <a:ln w="15875">
            <a:solidFill>
              <a:srgbClr val="2C4874"/>
            </a:solidFill>
            <a:prstDash val="solid"/>
          </a:ln>
        </p:spPr>
      </p:sp>
      <p:sp>
        <p:nvSpPr>
          <p:cNvPr id="11" name="Shape 9"/>
          <p:cNvSpPr/>
          <p:nvPr/>
        </p:nvSpPr>
        <p:spPr>
          <a:xfrm flipH="1">
            <a:off x="9692640" y="3200400"/>
            <a:ext cx="1371600" cy="182880"/>
          </a:xfrm>
          <a:prstGeom prst="line">
            <a:avLst/>
          </a:prstGeom>
          <a:noFill/>
          <a:ln w="15875">
            <a:solidFill>
              <a:srgbClr val="2C4874"/>
            </a:solidFill>
            <a:prstDash val="solid"/>
          </a:ln>
        </p:spPr>
      </p:sp>
      <p:sp>
        <p:nvSpPr>
          <p:cNvPr id="12" name="Shape 10"/>
          <p:cNvSpPr/>
          <p:nvPr/>
        </p:nvSpPr>
        <p:spPr>
          <a:xfrm>
            <a:off x="10881360" y="822960"/>
            <a:ext cx="1005840" cy="274320"/>
          </a:xfrm>
          <a:prstGeom prst="line">
            <a:avLst/>
          </a:prstGeom>
          <a:noFill/>
          <a:ln w="15875">
            <a:solidFill>
              <a:srgbClr val="2C4874"/>
            </a:solidFill>
            <a:prstDash val="solid"/>
          </a:ln>
        </p:spPr>
      </p:sp>
      <p:sp>
        <p:nvSpPr>
          <p:cNvPr id="13" name="Shape 11"/>
          <p:cNvSpPr/>
          <p:nvPr/>
        </p:nvSpPr>
        <p:spPr>
          <a:xfrm flipV="1">
            <a:off x="9692640" y="2377440"/>
            <a:ext cx="640080" cy="1005840"/>
          </a:xfrm>
          <a:prstGeom prst="line">
            <a:avLst/>
          </a:prstGeom>
          <a:noFill/>
          <a:ln w="15875">
            <a:solidFill>
              <a:srgbClr val="2C4874"/>
            </a:solidFill>
            <a:prstDash val="solid"/>
          </a:ln>
        </p:spPr>
      </p:sp>
      <p:sp>
        <p:nvSpPr>
          <p:cNvPr id="14" name="Shape 12"/>
          <p:cNvSpPr/>
          <p:nvPr/>
        </p:nvSpPr>
        <p:spPr>
          <a:xfrm>
            <a:off x="9427464" y="1106424"/>
            <a:ext cx="164592" cy="164592"/>
          </a:xfrm>
          <a:prstGeom prst="ellipse">
            <a:avLst/>
          </a:prstGeom>
          <a:solidFill>
            <a:srgbClr val="5A7A9A"/>
          </a:solidFill>
          <a:ln/>
        </p:spPr>
      </p:sp>
      <p:sp>
        <p:nvSpPr>
          <p:cNvPr id="15" name="Shape 13"/>
          <p:cNvSpPr/>
          <p:nvPr/>
        </p:nvSpPr>
        <p:spPr>
          <a:xfrm>
            <a:off x="10799064" y="740664"/>
            <a:ext cx="164592" cy="164592"/>
          </a:xfrm>
          <a:prstGeom prst="ellipse">
            <a:avLst/>
          </a:prstGeom>
          <a:solidFill>
            <a:srgbClr val="5A7A9A"/>
          </a:solidFill>
          <a:ln/>
        </p:spPr>
      </p:sp>
      <p:sp>
        <p:nvSpPr>
          <p:cNvPr id="16" name="Shape 14"/>
          <p:cNvSpPr/>
          <p:nvPr/>
        </p:nvSpPr>
        <p:spPr>
          <a:xfrm>
            <a:off x="11439144" y="1837944"/>
            <a:ext cx="164592" cy="164592"/>
          </a:xfrm>
          <a:prstGeom prst="ellipse">
            <a:avLst/>
          </a:prstGeom>
          <a:solidFill>
            <a:srgbClr val="5A7A9A"/>
          </a:solidFill>
          <a:ln/>
        </p:spPr>
      </p:sp>
      <p:sp>
        <p:nvSpPr>
          <p:cNvPr id="17" name="Shape 15"/>
          <p:cNvSpPr/>
          <p:nvPr/>
        </p:nvSpPr>
        <p:spPr>
          <a:xfrm>
            <a:off x="10250424" y="2295144"/>
            <a:ext cx="164592" cy="164592"/>
          </a:xfrm>
          <a:prstGeom prst="ellipse">
            <a:avLst/>
          </a:prstGeom>
          <a:solidFill>
            <a:srgbClr val="5A7A9A"/>
          </a:solidFill>
          <a:ln/>
        </p:spPr>
      </p:sp>
      <p:sp>
        <p:nvSpPr>
          <p:cNvPr id="18" name="Shape 16"/>
          <p:cNvSpPr/>
          <p:nvPr/>
        </p:nvSpPr>
        <p:spPr>
          <a:xfrm>
            <a:off x="9061704" y="2203704"/>
            <a:ext cx="164592" cy="164592"/>
          </a:xfrm>
          <a:prstGeom prst="ellipse">
            <a:avLst/>
          </a:prstGeom>
          <a:solidFill>
            <a:srgbClr val="5A7A9A"/>
          </a:solidFill>
          <a:ln/>
        </p:spPr>
      </p:sp>
      <p:sp>
        <p:nvSpPr>
          <p:cNvPr id="19" name="Shape 17"/>
          <p:cNvSpPr/>
          <p:nvPr/>
        </p:nvSpPr>
        <p:spPr>
          <a:xfrm>
            <a:off x="10981944" y="3118104"/>
            <a:ext cx="164592" cy="164592"/>
          </a:xfrm>
          <a:prstGeom prst="ellipse">
            <a:avLst/>
          </a:prstGeom>
          <a:solidFill>
            <a:srgbClr val="5A7A9A"/>
          </a:solidFill>
          <a:ln/>
        </p:spPr>
      </p:sp>
      <p:sp>
        <p:nvSpPr>
          <p:cNvPr id="20" name="Shape 18"/>
          <p:cNvSpPr/>
          <p:nvPr/>
        </p:nvSpPr>
        <p:spPr>
          <a:xfrm>
            <a:off x="9610344" y="3300984"/>
            <a:ext cx="164592" cy="164592"/>
          </a:xfrm>
          <a:prstGeom prst="ellipse">
            <a:avLst/>
          </a:prstGeom>
          <a:solidFill>
            <a:srgbClr val="E4572E"/>
          </a:solidFill>
          <a:ln/>
        </p:spPr>
      </p:sp>
      <p:sp>
        <p:nvSpPr>
          <p:cNvPr id="21" name="Shape 19"/>
          <p:cNvSpPr/>
          <p:nvPr/>
        </p:nvSpPr>
        <p:spPr>
          <a:xfrm>
            <a:off x="8513064" y="1380744"/>
            <a:ext cx="164592" cy="164592"/>
          </a:xfrm>
          <a:prstGeom prst="ellipse">
            <a:avLst/>
          </a:prstGeom>
          <a:solidFill>
            <a:srgbClr val="5A7A9A"/>
          </a:solidFill>
          <a:ln/>
        </p:spPr>
      </p:sp>
      <p:sp>
        <p:nvSpPr>
          <p:cNvPr id="22" name="Shape 20"/>
          <p:cNvSpPr/>
          <p:nvPr/>
        </p:nvSpPr>
        <p:spPr>
          <a:xfrm>
            <a:off x="8330184" y="2843784"/>
            <a:ext cx="164592" cy="164592"/>
          </a:xfrm>
          <a:prstGeom prst="ellipse">
            <a:avLst/>
          </a:prstGeom>
          <a:solidFill>
            <a:srgbClr val="5A7A9A"/>
          </a:solidFill>
          <a:ln/>
        </p:spPr>
      </p:sp>
      <p:sp>
        <p:nvSpPr>
          <p:cNvPr id="23" name="Shape 21"/>
          <p:cNvSpPr/>
          <p:nvPr/>
        </p:nvSpPr>
        <p:spPr>
          <a:xfrm>
            <a:off x="11804904" y="1014984"/>
            <a:ext cx="164592" cy="164592"/>
          </a:xfrm>
          <a:prstGeom prst="ellipse">
            <a:avLst/>
          </a:prstGeom>
          <a:solidFill>
            <a:srgbClr val="5A7A9A"/>
          </a:solidFill>
          <a:ln/>
        </p:spPr>
      </p:sp>
      <p:sp>
        <p:nvSpPr>
          <p:cNvPr id="24" name="Shape 22"/>
          <p:cNvSpPr/>
          <p:nvPr/>
        </p:nvSpPr>
        <p:spPr>
          <a:xfrm>
            <a:off x="9436608" y="3127248"/>
            <a:ext cx="512064" cy="512064"/>
          </a:xfrm>
          <a:prstGeom prst="ellipse">
            <a:avLst/>
          </a:prstGeom>
          <a:ln w="12700">
            <a:solidFill>
              <a:srgbClr val="E4572E">
                <a:alpha val="60000"/>
              </a:srgbClr>
            </a:solidFill>
            <a:prstDash val="solid"/>
          </a:ln>
        </p:spPr>
      </p:sp>
      <p:sp>
        <p:nvSpPr>
          <p:cNvPr id="25" name="Shape 23"/>
          <p:cNvSpPr/>
          <p:nvPr/>
        </p:nvSpPr>
        <p:spPr>
          <a:xfrm>
            <a:off x="9308592" y="2999232"/>
            <a:ext cx="768096" cy="768096"/>
          </a:xfrm>
          <a:prstGeom prst="ellipse">
            <a:avLst/>
          </a:prstGeom>
          <a:ln w="12700">
            <a:solidFill>
              <a:srgbClr val="E4572E">
                <a:alpha val="60000"/>
              </a:srgbClr>
            </a:solidFill>
            <a:prstDash val="solid"/>
          </a:ln>
        </p:spPr>
      </p:sp>
      <p:sp>
        <p:nvSpPr>
          <p:cNvPr id="26" name="Shape 24"/>
          <p:cNvSpPr/>
          <p:nvPr/>
        </p:nvSpPr>
        <p:spPr>
          <a:xfrm>
            <a:off x="548640" y="548640"/>
            <a:ext cx="2331720" cy="384048"/>
          </a:xfrm>
          <a:prstGeom prst="roundRect">
            <a:avLst>
              <a:gd name="adj" fmla="val 19048"/>
            </a:avLst>
          </a:prstGeom>
          <a:solidFill>
            <a:srgbClr val="1C3559"/>
          </a:solidFill>
          <a:ln w="9525">
            <a:solidFill>
              <a:srgbClr val="5A7A9A"/>
            </a:solidFill>
            <a:prstDash val="solid"/>
          </a:ln>
        </p:spPr>
      </p:sp>
      <p:sp>
        <p:nvSpPr>
          <p:cNvPr id="27" name="Text 25"/>
          <p:cNvSpPr/>
          <p:nvPr/>
        </p:nvSpPr>
        <p:spPr>
          <a:xfrm>
            <a:off x="548640" y="548640"/>
            <a:ext cx="2331720" cy="384048"/>
          </a:xfrm>
          <a:prstGeom prst="rect">
            <a:avLst/>
          </a:prstGeom>
          <a:noFill/>
          <a:ln/>
        </p:spPr>
        <p:txBody>
          <a:bodyPr wrap="square" lIns="0" tIns="0" rIns="0" bIns="0" rtlCol="0" anchor="ctr"/>
          <a:lstStyle/>
          <a:p>
            <a:pPr algn="ctr" indent="0" marL="0">
              <a:buNone/>
            </a:pPr>
            <a:r>
              <a:rPr lang="en-US" sz="1100" b="1" spc="200" kern="0" dirty="0">
                <a:solidFill>
                  <a:srgbClr val="D9E4F1"/>
                </a:solidFill>
                <a:latin typeface="Calibri" pitchFamily="34" charset="0"/>
                <a:ea typeface="Calibri" pitchFamily="34" charset="-122"/>
                <a:cs typeface="Calibri" pitchFamily="34" charset="-120"/>
              </a:rPr>
              <a:t>TECHNICAL PRESENTATION</a:t>
            </a:r>
            <a:endParaRPr lang="en-US" sz="1100" dirty="0"/>
          </a:p>
        </p:txBody>
      </p:sp>
      <p:sp>
        <p:nvSpPr>
          <p:cNvPr id="28" name="Text 26"/>
          <p:cNvSpPr txBox="1"/>
          <p:nvPr/>
        </p:nvSpPr>
        <p:spPr>
          <a:xfrm>
            <a:off x="548640" y="1417320"/>
            <a:ext cx="786384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Multi-Agent System</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for Disaster Management</a:t>
            </a:r>
            <a:endParaRPr lang="en-US" sz="4000" dirty="0"/>
          </a:p>
        </p:txBody>
      </p:sp>
      <p:sp>
        <p:nvSpPr>
          <p:cNvPr id="29" name="Shape 27"/>
          <p:cNvSpPr/>
          <p:nvPr/>
        </p:nvSpPr>
        <p:spPr>
          <a:xfrm>
            <a:off x="566928" y="3246120"/>
            <a:ext cx="502920" cy="41148"/>
          </a:xfrm>
          <a:prstGeom prst="rect">
            <a:avLst/>
          </a:prstGeom>
          <a:solidFill>
            <a:srgbClr val="E4572E"/>
          </a:solidFill>
          <a:ln/>
        </p:spPr>
      </p:sp>
      <p:sp>
        <p:nvSpPr>
          <p:cNvPr id="30" name="Text 28"/>
          <p:cNvSpPr txBox="1"/>
          <p:nvPr/>
        </p:nvSpPr>
        <p:spPr>
          <a:xfrm>
            <a:off x="548640" y="3383280"/>
            <a:ext cx="7498080" cy="548640"/>
          </a:xfrm>
          <a:prstGeom prst="rect">
            <a:avLst/>
          </a:prstGeom>
          <a:noFill/>
          <a:ln/>
        </p:spPr>
        <p:txBody>
          <a:bodyPr wrap="square" lIns="0" tIns="0" rIns="0" bIns="0" rtlCol="0" anchor="ctr"/>
          <a:lstStyle/>
          <a:p>
            <a:pPr indent="0" marL="0">
              <a:buNone/>
            </a:pPr>
            <a:r>
              <a:rPr lang="en-US" sz="1600" i="1" dirty="0">
                <a:solidFill>
                  <a:srgbClr val="D9E4F1"/>
                </a:solidFill>
                <a:latin typeface="Calibri" pitchFamily="34" charset="0"/>
                <a:ea typeface="Calibri" pitchFamily="34" charset="-122"/>
                <a:cs typeface="Calibri" pitchFamily="34" charset="-120"/>
              </a:rPr>
              <a:t>Collaborative AI Agents for Real-Time Disaster Detection and Response</a:t>
            </a:r>
            <a:endParaRPr lang="en-US" sz="1600" dirty="0"/>
          </a:p>
        </p:txBody>
      </p:sp>
      <p:sp>
        <p:nvSpPr>
          <p:cNvPr id="31" name="Shape 29"/>
          <p:cNvSpPr/>
          <p:nvPr/>
        </p:nvSpPr>
        <p:spPr>
          <a:xfrm>
            <a:off x="548640" y="4343400"/>
            <a:ext cx="6035040" cy="1691640"/>
          </a:xfrm>
          <a:prstGeom prst="roundRect">
            <a:avLst>
              <a:gd name="adj" fmla="val 4865"/>
            </a:avLst>
          </a:prstGeom>
          <a:solidFill>
            <a:srgbClr val="1C3559"/>
          </a:solidFill>
          <a:ln w="12700">
            <a:solidFill>
              <a:srgbClr val="2C4874"/>
            </a:solidFill>
            <a:prstDash val="solid"/>
          </a:ln>
        </p:spPr>
      </p:sp>
      <p:sp>
        <p:nvSpPr>
          <p:cNvPr id="32" name="Text 30"/>
          <p:cNvSpPr/>
          <p:nvPr/>
        </p:nvSpPr>
        <p:spPr>
          <a:xfrm>
            <a:off x="822960" y="4617720"/>
            <a:ext cx="2560320" cy="256032"/>
          </a:xfrm>
          <a:prstGeom prst="rect">
            <a:avLst/>
          </a:prstGeom>
          <a:noFill/>
          <a:ln/>
        </p:spPr>
        <p:txBody>
          <a:bodyPr wrap="square" lIns="0" tIns="0" rIns="0" bIns="0" rtlCol="0" anchor="ctr"/>
          <a:lstStyle/>
          <a:p>
            <a:pPr indent="0" marL="0">
              <a:buNone/>
            </a:pPr>
            <a:r>
              <a:rPr lang="en-US" sz="1000" b="1" spc="100" kern="0" dirty="0">
                <a:solidFill>
                  <a:srgbClr val="5A7A9A"/>
                </a:solidFill>
                <a:latin typeface="Calibri" pitchFamily="34" charset="0"/>
                <a:ea typeface="Calibri" pitchFamily="34" charset="-122"/>
                <a:cs typeface="Calibri" pitchFamily="34" charset="-120"/>
              </a:rPr>
              <a:t>NAME</a:t>
            </a:r>
            <a:endParaRPr lang="en-US" sz="1000" dirty="0"/>
          </a:p>
        </p:txBody>
      </p:sp>
      <p:sp>
        <p:nvSpPr>
          <p:cNvPr id="33" name="Text 31"/>
          <p:cNvSpPr/>
          <p:nvPr/>
        </p:nvSpPr>
        <p:spPr>
          <a:xfrm>
            <a:off x="822960" y="4855464"/>
            <a:ext cx="256032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Vignesh Kumar K</a:t>
            </a:r>
            <a:endParaRPr lang="en-US" sz="1450" dirty="0"/>
          </a:p>
        </p:txBody>
      </p:sp>
      <p:sp>
        <p:nvSpPr>
          <p:cNvPr id="34" name="Text 32"/>
          <p:cNvSpPr/>
          <p:nvPr/>
        </p:nvSpPr>
        <p:spPr>
          <a:xfrm>
            <a:off x="3703320" y="4617720"/>
            <a:ext cx="2560320" cy="256032"/>
          </a:xfrm>
          <a:prstGeom prst="rect">
            <a:avLst/>
          </a:prstGeom>
          <a:noFill/>
          <a:ln/>
        </p:spPr>
        <p:txBody>
          <a:bodyPr wrap="square" lIns="0" tIns="0" rIns="0" bIns="0" rtlCol="0" anchor="ctr"/>
          <a:lstStyle/>
          <a:p>
            <a:pPr indent="0" marL="0">
              <a:buNone/>
            </a:pPr>
            <a:r>
              <a:rPr lang="en-US" sz="1000" b="1" spc="100" kern="0" dirty="0">
                <a:solidFill>
                  <a:srgbClr val="5A7A9A"/>
                </a:solidFill>
                <a:latin typeface="Calibri" pitchFamily="34" charset="0"/>
                <a:ea typeface="Calibri" pitchFamily="34" charset="-122"/>
                <a:cs typeface="Calibri" pitchFamily="34" charset="-120"/>
              </a:rPr>
              <a:t>REG NO</a:t>
            </a:r>
            <a:endParaRPr lang="en-US" sz="1000" dirty="0"/>
          </a:p>
        </p:txBody>
      </p:sp>
      <p:sp>
        <p:nvSpPr>
          <p:cNvPr id="35" name="Text 33"/>
          <p:cNvSpPr/>
          <p:nvPr/>
        </p:nvSpPr>
        <p:spPr>
          <a:xfrm>
            <a:off x="3703320" y="4855464"/>
            <a:ext cx="256032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192512375</a:t>
            </a:r>
            <a:endParaRPr lang="en-US" sz="1450" dirty="0"/>
          </a:p>
        </p:txBody>
      </p:sp>
      <p:sp>
        <p:nvSpPr>
          <p:cNvPr id="36" name="Text 34"/>
          <p:cNvSpPr/>
          <p:nvPr/>
        </p:nvSpPr>
        <p:spPr>
          <a:xfrm>
            <a:off x="822960" y="5303520"/>
            <a:ext cx="2560320" cy="256032"/>
          </a:xfrm>
          <a:prstGeom prst="rect">
            <a:avLst/>
          </a:prstGeom>
          <a:noFill/>
          <a:ln/>
        </p:spPr>
        <p:txBody>
          <a:bodyPr wrap="square" lIns="0" tIns="0" rIns="0" bIns="0" rtlCol="0" anchor="ctr"/>
          <a:lstStyle/>
          <a:p>
            <a:pPr indent="0" marL="0">
              <a:buNone/>
            </a:pPr>
            <a:r>
              <a:rPr lang="en-US" sz="1000" b="1" spc="100" kern="0" dirty="0">
                <a:solidFill>
                  <a:srgbClr val="5A7A9A"/>
                </a:solidFill>
                <a:latin typeface="Calibri" pitchFamily="34" charset="0"/>
                <a:ea typeface="Calibri" pitchFamily="34" charset="-122"/>
                <a:cs typeface="Calibri" pitchFamily="34" charset="-120"/>
              </a:rPr>
              <a:t>SUBJECT</a:t>
            </a:r>
            <a:endParaRPr lang="en-US" sz="1000" dirty="0"/>
          </a:p>
        </p:txBody>
      </p:sp>
      <p:sp>
        <p:nvSpPr>
          <p:cNvPr id="37" name="Text 35"/>
          <p:cNvSpPr/>
          <p:nvPr/>
        </p:nvSpPr>
        <p:spPr>
          <a:xfrm>
            <a:off x="822960" y="5541264"/>
            <a:ext cx="256032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Artificial Intelligence</a:t>
            </a:r>
            <a:endParaRPr lang="en-US" sz="1450" dirty="0"/>
          </a:p>
        </p:txBody>
      </p:sp>
      <p:sp>
        <p:nvSpPr>
          <p:cNvPr id="38" name="Text 36"/>
          <p:cNvSpPr/>
          <p:nvPr/>
        </p:nvSpPr>
        <p:spPr>
          <a:xfrm>
            <a:off x="3703320" y="5303520"/>
            <a:ext cx="2560320" cy="256032"/>
          </a:xfrm>
          <a:prstGeom prst="rect">
            <a:avLst/>
          </a:prstGeom>
          <a:noFill/>
          <a:ln/>
        </p:spPr>
        <p:txBody>
          <a:bodyPr wrap="square" lIns="0" tIns="0" rIns="0" bIns="0" rtlCol="0" anchor="ctr"/>
          <a:lstStyle/>
          <a:p>
            <a:pPr indent="0" marL="0">
              <a:buNone/>
            </a:pPr>
            <a:r>
              <a:rPr lang="en-US" sz="1000" b="1" spc="100" kern="0" dirty="0">
                <a:solidFill>
                  <a:srgbClr val="5A7A9A"/>
                </a:solidFill>
                <a:latin typeface="Calibri" pitchFamily="34" charset="0"/>
                <a:ea typeface="Calibri" pitchFamily="34" charset="-122"/>
                <a:cs typeface="Calibri" pitchFamily="34" charset="-120"/>
              </a:rPr>
              <a:t>COURSE CODE</a:t>
            </a:r>
            <a:endParaRPr lang="en-US" sz="1000" dirty="0"/>
          </a:p>
        </p:txBody>
      </p:sp>
      <p:sp>
        <p:nvSpPr>
          <p:cNvPr id="39" name="Text 37"/>
          <p:cNvSpPr/>
          <p:nvPr/>
        </p:nvSpPr>
        <p:spPr>
          <a:xfrm>
            <a:off x="3703320" y="5541264"/>
            <a:ext cx="2560320"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CSA1712</a:t>
            </a:r>
            <a:endParaRPr lang="en-US" sz="1450" dirty="0"/>
          </a:p>
        </p:txBody>
      </p:sp>
      <p:sp>
        <p:nvSpPr>
          <p:cNvPr id="40" name="Text 38"/>
          <p:cNvSpPr/>
          <p:nvPr/>
        </p:nvSpPr>
        <p:spPr>
          <a:xfrm>
            <a:off x="457200" y="6537960"/>
            <a:ext cx="7315200" cy="274320"/>
          </a:xfrm>
          <a:prstGeom prst="rect">
            <a:avLst/>
          </a:prstGeom>
          <a:noFill/>
          <a:ln/>
        </p:spPr>
        <p:txBody>
          <a:bodyPr wrap="square" lIns="0" tIns="0" rIns="0" bIns="0" rtlCol="0" anchor="ctr"/>
          <a:lstStyle/>
          <a:p>
            <a:pPr indent="0" marL="0">
              <a:buNone/>
            </a:pPr>
            <a:r>
              <a:rPr lang="en-US" sz="900" i="1" dirty="0">
                <a:solidFill>
                  <a:srgbClr val="8FA3BE"/>
                </a:solidFill>
                <a:latin typeface="Calibri" pitchFamily="34" charset="0"/>
                <a:ea typeface="Calibri" pitchFamily="34" charset="-122"/>
                <a:cs typeface="Calibri" pitchFamily="34" charset="-120"/>
              </a:rPr>
              <a:t>Multi-Agent System for Disaster Management</a:t>
            </a:r>
            <a:endParaRPr lang="en-US" sz="900" dirty="0"/>
          </a:p>
        </p:txBody>
      </p:sp>
      <p:sp>
        <p:nvSpPr>
          <p:cNvPr id="41" name="Text 39"/>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FA3BE"/>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2600" b="1" dirty="0">
                <a:solidFill>
                  <a:srgbClr val="16233A"/>
                </a:solidFill>
                <a:latin typeface="Cambria" pitchFamily="34" charset="0"/>
                <a:ea typeface="Cambria" pitchFamily="34" charset="-122"/>
                <a:cs typeface="Cambria" pitchFamily="34" charset="-120"/>
              </a:rPr>
              <a:t>Problem Identification and Multi-Agent Approach</a:t>
            </a:r>
            <a:endParaRPr lang="en-US" sz="2600" dirty="0"/>
          </a:p>
        </p:txBody>
      </p:sp>
      <p:sp>
        <p:nvSpPr>
          <p:cNvPr id="3" name="Shape 1"/>
          <p:cNvSpPr/>
          <p:nvPr/>
        </p:nvSpPr>
        <p:spPr>
          <a:xfrm>
            <a:off x="475488" y="914400"/>
            <a:ext cx="457200" cy="36576"/>
          </a:xfrm>
          <a:prstGeom prst="rect">
            <a:avLst/>
          </a:prstGeom>
          <a:solidFill>
            <a:srgbClr val="E4572E"/>
          </a:solidFill>
          <a:ln/>
        </p:spPr>
      </p:sp>
      <p:sp>
        <p:nvSpPr>
          <p:cNvPr id="4" name="Text 2"/>
          <p:cNvSpPr/>
          <p:nvPr/>
        </p:nvSpPr>
        <p:spPr>
          <a:xfrm>
            <a:off x="502920" y="1143000"/>
            <a:ext cx="5120640" cy="2423160"/>
          </a:xfrm>
          <a:prstGeom prst="rect">
            <a:avLst/>
          </a:prstGeom>
          <a:noFill/>
          <a:ln/>
        </p:spPr>
        <p:txBody>
          <a:bodyPr wrap="square" lIns="0" tIns="0" rIns="0" bIns="0" rtlCol="0" anchor="t"/>
          <a:lstStyle/>
          <a:p>
            <a:pPr marL="177800" indent="-1778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Disasters generate large volumes of real-time data from sensors, cameras, weather systems, and emergency networks.</a:t>
            </a:r>
            <a:endParaRPr lang="en-US" sz="1250" dirty="0"/>
          </a:p>
          <a:p>
            <a:pPr marL="177800" indent="-1778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A centralized system can become overloaded, delaying critical decisions.</a:t>
            </a:r>
            <a:endParaRPr lang="en-US" sz="1250" dirty="0"/>
          </a:p>
          <a:p>
            <a:pPr marL="177800" indent="-1778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A Multi-Agent System (MAS) divides the task among specialized intelligent agents.</a:t>
            </a:r>
            <a:endParaRPr lang="en-US" sz="1250" dirty="0"/>
          </a:p>
          <a:p>
            <a:pPr marL="177800" indent="-1778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Each agent observes its environment, processes information, and communicates with others.</a:t>
            </a:r>
            <a:endParaRPr lang="en-US" sz="1250" dirty="0"/>
          </a:p>
          <a:p>
            <a:pPr marL="177800" indent="-177800">
              <a:spcAft>
                <a:spcPts val="1000"/>
              </a:spcAft>
              <a:buSzPct val="100000"/>
              <a:buChar char="•"/>
            </a:pPr>
            <a:r>
              <a:rPr lang="en-US" sz="1250" dirty="0">
                <a:solidFill>
                  <a:srgbClr val="16233A"/>
                </a:solidFill>
                <a:latin typeface="Calibri" pitchFamily="34" charset="0"/>
                <a:ea typeface="Calibri" pitchFamily="34" charset="-122"/>
                <a:cs typeface="Calibri" pitchFamily="34" charset="-120"/>
              </a:rPr>
              <a:t>Agents collectively detect disasters and coordinate emergency responses.</a:t>
            </a:r>
            <a:endParaRPr lang="en-US" sz="1250" dirty="0"/>
          </a:p>
        </p:txBody>
      </p:sp>
      <p:sp>
        <p:nvSpPr>
          <p:cNvPr id="5" name="Shape 3"/>
          <p:cNvSpPr/>
          <p:nvPr/>
        </p:nvSpPr>
        <p:spPr>
          <a:xfrm>
            <a:off x="502920" y="3977640"/>
            <a:ext cx="1627632" cy="2148840"/>
          </a:xfrm>
          <a:prstGeom prst="roundRect">
            <a:avLst>
              <a:gd name="adj" fmla="val 5056"/>
            </a:avLst>
          </a:prstGeom>
          <a:solidFill>
            <a:srgbClr val="FFFFFF"/>
          </a:solidFill>
          <a:ln w="12700">
            <a:solidFill>
              <a:srgbClr val="DDE3EC"/>
            </a:solidFill>
            <a:prstDash val="solid"/>
          </a:ln>
          <a:effectLst>
            <a:outerShdw sx="100000" sy="100000" kx="0" ky="0" algn="bl" rotWithShape="0" blurRad="76200" dist="25400" dir="5400000">
              <a:srgbClr val="1B2A4A">
                <a:alpha val="12000"/>
              </a:srgbClr>
            </a:outerShdw>
          </a:effectLst>
        </p:spPr>
      </p:sp>
      <p:sp>
        <p:nvSpPr>
          <p:cNvPr id="6" name="Shape 4"/>
          <p:cNvSpPr/>
          <p:nvPr/>
        </p:nvSpPr>
        <p:spPr>
          <a:xfrm>
            <a:off x="1024128" y="4270248"/>
            <a:ext cx="585216" cy="585216"/>
          </a:xfrm>
          <a:prstGeom prst="ellipse">
            <a:avLst/>
          </a:prstGeom>
          <a:solidFill>
            <a:srgbClr val="13223D"/>
          </a:solidFill>
          <a:ln/>
        </p:spPr>
      </p:sp>
      <p:pic>
        <p:nvPicPr>
          <p:cNvPr id="7" name="Image 0" descr="/home/claude/icons/sensor_orange.png">    </p:cNvPr>
          <p:cNvPicPr>
            <a:picLocks noChangeAspect="1"/>
          </p:cNvPicPr>
          <p:nvPr/>
        </p:nvPicPr>
        <p:blipFill>
          <a:blip r:embed="rId1"/>
          <a:stretch>
            <a:fillRect/>
          </a:stretch>
        </p:blipFill>
        <p:spPr>
          <a:xfrm>
            <a:off x="1176284" y="4422404"/>
            <a:ext cx="280904" cy="280904"/>
          </a:xfrm>
          <a:prstGeom prst="rect">
            <a:avLst/>
          </a:prstGeom>
        </p:spPr>
      </p:pic>
      <p:sp>
        <p:nvSpPr>
          <p:cNvPr id="8" name="Text 5"/>
          <p:cNvSpPr/>
          <p:nvPr/>
        </p:nvSpPr>
        <p:spPr>
          <a:xfrm>
            <a:off x="576072" y="4983480"/>
            <a:ext cx="1481328" cy="310896"/>
          </a:xfrm>
          <a:prstGeom prst="rect">
            <a:avLst/>
          </a:prstGeom>
          <a:noFill/>
          <a:ln/>
        </p:spPr>
        <p:txBody>
          <a:bodyPr wrap="square" lIns="0" tIns="0" rIns="0" bIns="0" rtlCol="0" anchor="ctr"/>
          <a:lstStyle/>
          <a:p>
            <a:pPr algn="ctr" indent="0" marL="0">
              <a:buNone/>
            </a:pPr>
            <a:r>
              <a:rPr lang="en-US" sz="1250" b="1" dirty="0">
                <a:solidFill>
                  <a:srgbClr val="16233A"/>
                </a:solidFill>
                <a:latin typeface="Calibri" pitchFamily="34" charset="0"/>
                <a:ea typeface="Calibri" pitchFamily="34" charset="-122"/>
                <a:cs typeface="Calibri" pitchFamily="34" charset="-120"/>
              </a:rPr>
              <a:t>Sensor Agent</a:t>
            </a:r>
            <a:endParaRPr lang="en-US" sz="1250" dirty="0"/>
          </a:p>
        </p:txBody>
      </p:sp>
      <p:sp>
        <p:nvSpPr>
          <p:cNvPr id="9" name="Text 6"/>
          <p:cNvSpPr/>
          <p:nvPr/>
        </p:nvSpPr>
        <p:spPr>
          <a:xfrm>
            <a:off x="594360" y="5330952"/>
            <a:ext cx="1444752" cy="713232"/>
          </a:xfrm>
          <a:prstGeom prst="rect">
            <a:avLst/>
          </a:prstGeom>
          <a:noFill/>
          <a:ln/>
        </p:spPr>
        <p:txBody>
          <a:bodyPr wrap="square" lIns="0" tIns="0" rIns="0" bIns="0" rtlCol="0" anchor="t"/>
          <a:lstStyle/>
          <a:p>
            <a:pPr algn="ctr" indent="0" marL="0">
              <a:lnSpc>
                <a:spcPct val="120000"/>
              </a:lnSpc>
              <a:buNone/>
            </a:pPr>
            <a:r>
              <a:rPr lang="en-US" sz="930" dirty="0">
                <a:solidFill>
                  <a:srgbClr val="5B6B84"/>
                </a:solidFill>
                <a:latin typeface="Calibri" pitchFamily="34" charset="0"/>
                <a:ea typeface="Calibri" pitchFamily="34" charset="-122"/>
                <a:cs typeface="Calibri" pitchFamily="34" charset="-120"/>
              </a:rPr>
              <a:t>Collects real-time environmental data</a:t>
            </a:r>
            <a:endParaRPr lang="en-US" sz="930" dirty="0"/>
          </a:p>
          <a:p>
            <a:pPr algn="ctr" indent="0" marL="0">
              <a:lnSpc>
                <a:spcPct val="120000"/>
              </a:lnSpc>
              <a:buNone/>
            </a:pPr>
            <a:r>
              <a:rPr lang="en-US" sz="930" dirty="0">
                <a:solidFill>
                  <a:srgbClr val="5B6B84"/>
                </a:solidFill>
                <a:latin typeface="Calibri" pitchFamily="34" charset="0"/>
                <a:ea typeface="Calibri" pitchFamily="34" charset="-122"/>
                <a:cs typeface="Calibri" pitchFamily="34" charset="-120"/>
              </a:rPr>
              <a:t>Detects abnormal conditions</a:t>
            </a:r>
            <a:endParaRPr lang="en-US" sz="930" dirty="0"/>
          </a:p>
        </p:txBody>
      </p:sp>
      <p:sp>
        <p:nvSpPr>
          <p:cNvPr id="10" name="Shape 7"/>
          <p:cNvSpPr/>
          <p:nvPr/>
        </p:nvSpPr>
        <p:spPr>
          <a:xfrm>
            <a:off x="2295144" y="3977640"/>
            <a:ext cx="1627632" cy="2148840"/>
          </a:xfrm>
          <a:prstGeom prst="roundRect">
            <a:avLst>
              <a:gd name="adj" fmla="val 5056"/>
            </a:avLst>
          </a:prstGeom>
          <a:solidFill>
            <a:srgbClr val="FFFFFF"/>
          </a:solidFill>
          <a:ln w="12700">
            <a:solidFill>
              <a:srgbClr val="DDE3EC"/>
            </a:solidFill>
            <a:prstDash val="solid"/>
          </a:ln>
          <a:effectLst>
            <a:outerShdw sx="100000" sy="100000" kx="0" ky="0" algn="bl" rotWithShape="0" blurRad="76200" dist="25400" dir="5400000">
              <a:srgbClr val="1B2A4A">
                <a:alpha val="12000"/>
              </a:srgbClr>
            </a:outerShdw>
          </a:effectLst>
        </p:spPr>
      </p:sp>
      <p:sp>
        <p:nvSpPr>
          <p:cNvPr id="11" name="Shape 8"/>
          <p:cNvSpPr/>
          <p:nvPr/>
        </p:nvSpPr>
        <p:spPr>
          <a:xfrm>
            <a:off x="2816352" y="4270248"/>
            <a:ext cx="585216" cy="585216"/>
          </a:xfrm>
          <a:prstGeom prst="ellipse">
            <a:avLst/>
          </a:prstGeom>
          <a:solidFill>
            <a:srgbClr val="13223D"/>
          </a:solidFill>
          <a:ln/>
        </p:spPr>
      </p:sp>
      <p:pic>
        <p:nvPicPr>
          <p:cNvPr id="12" name="Image 1" descr="/home/claude/icons/decision_orange.png">    </p:cNvPr>
          <p:cNvPicPr>
            <a:picLocks noChangeAspect="1"/>
          </p:cNvPicPr>
          <p:nvPr/>
        </p:nvPicPr>
        <p:blipFill>
          <a:blip r:embed="rId2"/>
          <a:stretch>
            <a:fillRect/>
          </a:stretch>
        </p:blipFill>
        <p:spPr>
          <a:xfrm>
            <a:off x="2968508" y="4422404"/>
            <a:ext cx="280904" cy="280904"/>
          </a:xfrm>
          <a:prstGeom prst="rect">
            <a:avLst/>
          </a:prstGeom>
        </p:spPr>
      </p:pic>
      <p:sp>
        <p:nvSpPr>
          <p:cNvPr id="13" name="Text 9"/>
          <p:cNvSpPr/>
          <p:nvPr/>
        </p:nvSpPr>
        <p:spPr>
          <a:xfrm>
            <a:off x="2368296" y="4983480"/>
            <a:ext cx="1481328" cy="310896"/>
          </a:xfrm>
          <a:prstGeom prst="rect">
            <a:avLst/>
          </a:prstGeom>
          <a:noFill/>
          <a:ln/>
        </p:spPr>
        <p:txBody>
          <a:bodyPr wrap="square" lIns="0" tIns="0" rIns="0" bIns="0" rtlCol="0" anchor="ctr"/>
          <a:lstStyle/>
          <a:p>
            <a:pPr algn="ctr" indent="0" marL="0">
              <a:buNone/>
            </a:pPr>
            <a:r>
              <a:rPr lang="en-US" sz="1250" b="1" dirty="0">
                <a:solidFill>
                  <a:srgbClr val="16233A"/>
                </a:solidFill>
                <a:latin typeface="Calibri" pitchFamily="34" charset="0"/>
                <a:ea typeface="Calibri" pitchFamily="34" charset="-122"/>
                <a:cs typeface="Calibri" pitchFamily="34" charset="-120"/>
              </a:rPr>
              <a:t>Decision Agent</a:t>
            </a:r>
            <a:endParaRPr lang="en-US" sz="1250" dirty="0"/>
          </a:p>
        </p:txBody>
      </p:sp>
      <p:sp>
        <p:nvSpPr>
          <p:cNvPr id="14" name="Text 10"/>
          <p:cNvSpPr/>
          <p:nvPr/>
        </p:nvSpPr>
        <p:spPr>
          <a:xfrm>
            <a:off x="2386584" y="5330952"/>
            <a:ext cx="1444752" cy="713232"/>
          </a:xfrm>
          <a:prstGeom prst="rect">
            <a:avLst/>
          </a:prstGeom>
          <a:noFill/>
          <a:ln/>
        </p:spPr>
        <p:txBody>
          <a:bodyPr wrap="square" lIns="0" tIns="0" rIns="0" bIns="0" rtlCol="0" anchor="t"/>
          <a:lstStyle/>
          <a:p>
            <a:pPr algn="ctr" indent="0" marL="0">
              <a:lnSpc>
                <a:spcPct val="120000"/>
              </a:lnSpc>
              <a:buNone/>
            </a:pPr>
            <a:r>
              <a:rPr lang="en-US" sz="930" dirty="0">
                <a:solidFill>
                  <a:srgbClr val="5B6B84"/>
                </a:solidFill>
                <a:latin typeface="Calibri" pitchFamily="34" charset="0"/>
                <a:ea typeface="Calibri" pitchFamily="34" charset="-122"/>
                <a:cs typeface="Calibri" pitchFamily="34" charset="-120"/>
              </a:rPr>
              <a:t>Analyzes incoming information</a:t>
            </a:r>
            <a:endParaRPr lang="en-US" sz="930" dirty="0"/>
          </a:p>
          <a:p>
            <a:pPr algn="ctr" indent="0" marL="0">
              <a:lnSpc>
                <a:spcPct val="120000"/>
              </a:lnSpc>
              <a:buNone/>
            </a:pPr>
            <a:r>
              <a:rPr lang="en-US" sz="930" dirty="0">
                <a:solidFill>
                  <a:srgbClr val="5B6B84"/>
                </a:solidFill>
                <a:latin typeface="Calibri" pitchFamily="34" charset="0"/>
                <a:ea typeface="Calibri" pitchFamily="34" charset="-122"/>
                <a:cs typeface="Calibri" pitchFamily="34" charset="-120"/>
              </a:rPr>
              <a:t>Determines severity &amp; response priority</a:t>
            </a:r>
            <a:endParaRPr lang="en-US" sz="930" dirty="0"/>
          </a:p>
        </p:txBody>
      </p:sp>
      <p:sp>
        <p:nvSpPr>
          <p:cNvPr id="15" name="Shape 11"/>
          <p:cNvSpPr/>
          <p:nvPr/>
        </p:nvSpPr>
        <p:spPr>
          <a:xfrm>
            <a:off x="4087368" y="3977640"/>
            <a:ext cx="1627632" cy="2148840"/>
          </a:xfrm>
          <a:prstGeom prst="roundRect">
            <a:avLst>
              <a:gd name="adj" fmla="val 5056"/>
            </a:avLst>
          </a:prstGeom>
          <a:solidFill>
            <a:srgbClr val="FFFFFF"/>
          </a:solidFill>
          <a:ln w="12700">
            <a:solidFill>
              <a:srgbClr val="DDE3EC"/>
            </a:solidFill>
            <a:prstDash val="solid"/>
          </a:ln>
          <a:effectLst>
            <a:outerShdw sx="100000" sy="100000" kx="0" ky="0" algn="bl" rotWithShape="0" blurRad="76200" dist="25400" dir="5400000">
              <a:srgbClr val="1B2A4A">
                <a:alpha val="12000"/>
              </a:srgbClr>
            </a:outerShdw>
          </a:effectLst>
        </p:spPr>
      </p:sp>
      <p:sp>
        <p:nvSpPr>
          <p:cNvPr id="16" name="Shape 12"/>
          <p:cNvSpPr/>
          <p:nvPr/>
        </p:nvSpPr>
        <p:spPr>
          <a:xfrm>
            <a:off x="4608576" y="4270248"/>
            <a:ext cx="585216" cy="585216"/>
          </a:xfrm>
          <a:prstGeom prst="ellipse">
            <a:avLst/>
          </a:prstGeom>
          <a:solidFill>
            <a:srgbClr val="13223D"/>
          </a:solidFill>
          <a:ln/>
        </p:spPr>
      </p:sp>
      <p:pic>
        <p:nvPicPr>
          <p:cNvPr id="17" name="Image 2" descr="/home/claude/icons/comm_orange.png">    </p:cNvPr>
          <p:cNvPicPr>
            <a:picLocks noChangeAspect="1"/>
          </p:cNvPicPr>
          <p:nvPr/>
        </p:nvPicPr>
        <p:blipFill>
          <a:blip r:embed="rId3"/>
          <a:stretch>
            <a:fillRect/>
          </a:stretch>
        </p:blipFill>
        <p:spPr>
          <a:xfrm>
            <a:off x="4760732" y="4422404"/>
            <a:ext cx="280904" cy="280904"/>
          </a:xfrm>
          <a:prstGeom prst="rect">
            <a:avLst/>
          </a:prstGeom>
        </p:spPr>
      </p:pic>
      <p:sp>
        <p:nvSpPr>
          <p:cNvPr id="18" name="Text 13"/>
          <p:cNvSpPr/>
          <p:nvPr/>
        </p:nvSpPr>
        <p:spPr>
          <a:xfrm>
            <a:off x="4160520" y="4983480"/>
            <a:ext cx="1481328" cy="310896"/>
          </a:xfrm>
          <a:prstGeom prst="rect">
            <a:avLst/>
          </a:prstGeom>
          <a:noFill/>
          <a:ln/>
        </p:spPr>
        <p:txBody>
          <a:bodyPr wrap="square" lIns="0" tIns="0" rIns="0" bIns="0" rtlCol="0" anchor="ctr"/>
          <a:lstStyle/>
          <a:p>
            <a:pPr algn="ctr" indent="0" marL="0">
              <a:buNone/>
            </a:pPr>
            <a:r>
              <a:rPr lang="en-US" sz="1250" b="1" dirty="0">
                <a:solidFill>
                  <a:srgbClr val="16233A"/>
                </a:solidFill>
                <a:latin typeface="Calibri" pitchFamily="34" charset="0"/>
                <a:ea typeface="Calibri" pitchFamily="34" charset="-122"/>
                <a:cs typeface="Calibri" pitchFamily="34" charset="-120"/>
              </a:rPr>
              <a:t>Communication Agent</a:t>
            </a:r>
            <a:endParaRPr lang="en-US" sz="1250" dirty="0"/>
          </a:p>
        </p:txBody>
      </p:sp>
      <p:sp>
        <p:nvSpPr>
          <p:cNvPr id="19" name="Text 14"/>
          <p:cNvSpPr/>
          <p:nvPr/>
        </p:nvSpPr>
        <p:spPr>
          <a:xfrm>
            <a:off x="4178808" y="5330952"/>
            <a:ext cx="1444752" cy="713232"/>
          </a:xfrm>
          <a:prstGeom prst="rect">
            <a:avLst/>
          </a:prstGeom>
          <a:noFill/>
          <a:ln/>
        </p:spPr>
        <p:txBody>
          <a:bodyPr wrap="square" lIns="0" tIns="0" rIns="0" bIns="0" rtlCol="0" anchor="t"/>
          <a:lstStyle/>
          <a:p>
            <a:pPr algn="ctr" indent="0" marL="0">
              <a:lnSpc>
                <a:spcPct val="120000"/>
              </a:lnSpc>
              <a:buNone/>
            </a:pPr>
            <a:r>
              <a:rPr lang="en-US" sz="930" dirty="0">
                <a:solidFill>
                  <a:srgbClr val="5B6B84"/>
                </a:solidFill>
                <a:latin typeface="Calibri" pitchFamily="34" charset="0"/>
                <a:ea typeface="Calibri" pitchFamily="34" charset="-122"/>
                <a:cs typeface="Calibri" pitchFamily="34" charset="-120"/>
              </a:rPr>
              <a:t>Shares alerts and decisions</a:t>
            </a:r>
            <a:endParaRPr lang="en-US" sz="930" dirty="0"/>
          </a:p>
          <a:p>
            <a:pPr algn="ctr" indent="0" marL="0">
              <a:lnSpc>
                <a:spcPct val="120000"/>
              </a:lnSpc>
              <a:buNone/>
            </a:pPr>
            <a:r>
              <a:rPr lang="en-US" sz="930" dirty="0">
                <a:solidFill>
                  <a:srgbClr val="5B6B84"/>
                </a:solidFill>
                <a:latin typeface="Calibri" pitchFamily="34" charset="0"/>
                <a:ea typeface="Calibri" pitchFamily="34" charset="-122"/>
                <a:cs typeface="Calibri" pitchFamily="34" charset="-120"/>
              </a:rPr>
              <a:t>Coordinates agents and emergency services</a:t>
            </a:r>
            <a:endParaRPr lang="en-US" sz="930" dirty="0"/>
          </a:p>
        </p:txBody>
      </p:sp>
      <p:sp>
        <p:nvSpPr>
          <p:cNvPr id="20" name="Shape 15"/>
          <p:cNvSpPr/>
          <p:nvPr/>
        </p:nvSpPr>
        <p:spPr>
          <a:xfrm>
            <a:off x="5989320" y="1143000"/>
            <a:ext cx="5715000" cy="2331720"/>
          </a:xfrm>
          <a:prstGeom prst="roundRect">
            <a:avLst>
              <a:gd name="adj" fmla="val 3529"/>
            </a:avLst>
          </a:prstGeom>
          <a:solidFill>
            <a:srgbClr val="13223D"/>
          </a:solidFill>
          <a:ln/>
        </p:spPr>
      </p:sp>
      <p:sp>
        <p:nvSpPr>
          <p:cNvPr id="21" name="Text 16"/>
          <p:cNvSpPr/>
          <p:nvPr/>
        </p:nvSpPr>
        <p:spPr>
          <a:xfrm>
            <a:off x="6263640" y="1298448"/>
            <a:ext cx="3657600" cy="256032"/>
          </a:xfrm>
          <a:prstGeom prst="rect">
            <a:avLst/>
          </a:prstGeom>
          <a:noFill/>
          <a:ln/>
        </p:spPr>
        <p:txBody>
          <a:bodyPr wrap="square" lIns="0" tIns="0" rIns="0" bIns="0" rtlCol="0" anchor="ctr"/>
          <a:lstStyle/>
          <a:p>
            <a:pPr indent="0" marL="0">
              <a:buNone/>
            </a:pPr>
            <a:r>
              <a:rPr lang="en-US" sz="1050" b="1" spc="150" kern="0" dirty="0">
                <a:solidFill>
                  <a:srgbClr val="5A7A9A"/>
                </a:solidFill>
                <a:latin typeface="Calibri" pitchFamily="34" charset="0"/>
                <a:ea typeface="Calibri" pitchFamily="34" charset="-122"/>
                <a:cs typeface="Calibri" pitchFamily="34" charset="-120"/>
              </a:rPr>
              <a:t>SYSTEM FLOW</a:t>
            </a:r>
            <a:endParaRPr lang="en-US" sz="1050" dirty="0"/>
          </a:p>
        </p:txBody>
      </p:sp>
      <p:sp>
        <p:nvSpPr>
          <p:cNvPr id="22" name="Shape 17"/>
          <p:cNvSpPr/>
          <p:nvPr/>
        </p:nvSpPr>
        <p:spPr>
          <a:xfrm>
            <a:off x="6263640" y="1874520"/>
            <a:ext cx="932688" cy="713232"/>
          </a:xfrm>
          <a:prstGeom prst="roundRect">
            <a:avLst>
              <a:gd name="adj" fmla="val 8974"/>
            </a:avLst>
          </a:prstGeom>
          <a:solidFill>
            <a:srgbClr val="1C3559"/>
          </a:solidFill>
          <a:ln w="12700">
            <a:solidFill>
              <a:srgbClr val="5A7A9A"/>
            </a:solidFill>
            <a:prstDash val="solid"/>
          </a:ln>
        </p:spPr>
      </p:sp>
      <p:sp>
        <p:nvSpPr>
          <p:cNvPr id="23" name="Text 18"/>
          <p:cNvSpPr/>
          <p:nvPr/>
        </p:nvSpPr>
        <p:spPr>
          <a:xfrm>
            <a:off x="6291072" y="1874520"/>
            <a:ext cx="877824" cy="713232"/>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Calibri" pitchFamily="34" charset="0"/>
                <a:ea typeface="Calibri" pitchFamily="34" charset="-122"/>
                <a:cs typeface="Calibri" pitchFamily="34" charset="-120"/>
              </a:rPr>
              <a:t>Sensors</a:t>
            </a:r>
            <a:endParaRPr lang="en-US" sz="900" dirty="0"/>
          </a:p>
        </p:txBody>
      </p:sp>
      <p:sp>
        <p:nvSpPr>
          <p:cNvPr id="24" name="Shape 19"/>
          <p:cNvSpPr/>
          <p:nvPr/>
        </p:nvSpPr>
        <p:spPr>
          <a:xfrm>
            <a:off x="7211416" y="2157984"/>
            <a:ext cx="95555" cy="146304"/>
          </a:xfrm>
          <a:prstGeom prst="rightArrow">
            <a:avLst/>
          </a:prstGeom>
          <a:solidFill>
            <a:srgbClr val="5A7A9A"/>
          </a:solidFill>
          <a:ln/>
        </p:spPr>
      </p:sp>
      <p:sp>
        <p:nvSpPr>
          <p:cNvPr id="25" name="Shape 20"/>
          <p:cNvSpPr/>
          <p:nvPr/>
        </p:nvSpPr>
        <p:spPr>
          <a:xfrm>
            <a:off x="7322058" y="1874520"/>
            <a:ext cx="932688" cy="713232"/>
          </a:xfrm>
          <a:prstGeom prst="roundRect">
            <a:avLst>
              <a:gd name="adj" fmla="val 8974"/>
            </a:avLst>
          </a:prstGeom>
          <a:solidFill>
            <a:srgbClr val="1C3559"/>
          </a:solidFill>
          <a:ln w="12700">
            <a:solidFill>
              <a:srgbClr val="5A7A9A"/>
            </a:solidFill>
            <a:prstDash val="solid"/>
          </a:ln>
        </p:spPr>
      </p:sp>
      <p:sp>
        <p:nvSpPr>
          <p:cNvPr id="26" name="Text 21"/>
          <p:cNvSpPr/>
          <p:nvPr/>
        </p:nvSpPr>
        <p:spPr>
          <a:xfrm>
            <a:off x="7349490" y="1874520"/>
            <a:ext cx="877824" cy="713232"/>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Calibri" pitchFamily="34" charset="0"/>
                <a:ea typeface="Calibri" pitchFamily="34" charset="-122"/>
                <a:cs typeface="Calibri" pitchFamily="34" charset="-120"/>
              </a:rPr>
              <a:t>Sensor</a:t>
            </a:r>
            <a:endParaRPr lang="en-US" sz="900" dirty="0"/>
          </a:p>
          <a:p>
            <a:pPr algn="ctr" indent="0" marL="0">
              <a:lnSpc>
                <a:spcPct val="100000"/>
              </a:lnSpc>
              <a:buNone/>
            </a:pPr>
            <a:r>
              <a:rPr lang="en-US" sz="900" b="1" dirty="0">
                <a:solidFill>
                  <a:srgbClr val="FFFFFF"/>
                </a:solidFill>
                <a:latin typeface="Calibri" pitchFamily="34" charset="0"/>
                <a:ea typeface="Calibri" pitchFamily="34" charset="-122"/>
                <a:cs typeface="Calibri" pitchFamily="34" charset="-120"/>
              </a:rPr>
              <a:t>Agent</a:t>
            </a:r>
            <a:endParaRPr lang="en-US" sz="900" dirty="0"/>
          </a:p>
        </p:txBody>
      </p:sp>
      <p:sp>
        <p:nvSpPr>
          <p:cNvPr id="27" name="Shape 22"/>
          <p:cNvSpPr/>
          <p:nvPr/>
        </p:nvSpPr>
        <p:spPr>
          <a:xfrm>
            <a:off x="8269834" y="2157984"/>
            <a:ext cx="95555" cy="146304"/>
          </a:xfrm>
          <a:prstGeom prst="rightArrow">
            <a:avLst/>
          </a:prstGeom>
          <a:solidFill>
            <a:srgbClr val="5A7A9A"/>
          </a:solidFill>
          <a:ln/>
        </p:spPr>
      </p:sp>
      <p:sp>
        <p:nvSpPr>
          <p:cNvPr id="28" name="Shape 23"/>
          <p:cNvSpPr/>
          <p:nvPr/>
        </p:nvSpPr>
        <p:spPr>
          <a:xfrm>
            <a:off x="8380476" y="1874520"/>
            <a:ext cx="932688" cy="713232"/>
          </a:xfrm>
          <a:prstGeom prst="roundRect">
            <a:avLst>
              <a:gd name="adj" fmla="val 8974"/>
            </a:avLst>
          </a:prstGeom>
          <a:solidFill>
            <a:srgbClr val="1C3559"/>
          </a:solidFill>
          <a:ln w="12700">
            <a:solidFill>
              <a:srgbClr val="5A7A9A"/>
            </a:solidFill>
            <a:prstDash val="solid"/>
          </a:ln>
        </p:spPr>
      </p:sp>
      <p:sp>
        <p:nvSpPr>
          <p:cNvPr id="29" name="Text 24"/>
          <p:cNvSpPr/>
          <p:nvPr/>
        </p:nvSpPr>
        <p:spPr>
          <a:xfrm>
            <a:off x="8407908" y="1874520"/>
            <a:ext cx="877824" cy="713232"/>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Calibri" pitchFamily="34" charset="0"/>
                <a:ea typeface="Calibri" pitchFamily="34" charset="-122"/>
                <a:cs typeface="Calibri" pitchFamily="34" charset="-120"/>
              </a:rPr>
              <a:t>Decision</a:t>
            </a:r>
            <a:endParaRPr lang="en-US" sz="900" dirty="0"/>
          </a:p>
          <a:p>
            <a:pPr algn="ctr" indent="0" marL="0">
              <a:lnSpc>
                <a:spcPct val="100000"/>
              </a:lnSpc>
              <a:buNone/>
            </a:pPr>
            <a:r>
              <a:rPr lang="en-US" sz="900" b="1" dirty="0">
                <a:solidFill>
                  <a:srgbClr val="FFFFFF"/>
                </a:solidFill>
                <a:latin typeface="Calibri" pitchFamily="34" charset="0"/>
                <a:ea typeface="Calibri" pitchFamily="34" charset="-122"/>
                <a:cs typeface="Calibri" pitchFamily="34" charset="-120"/>
              </a:rPr>
              <a:t>Agent</a:t>
            </a:r>
            <a:endParaRPr lang="en-US" sz="900" dirty="0"/>
          </a:p>
        </p:txBody>
      </p:sp>
      <p:sp>
        <p:nvSpPr>
          <p:cNvPr id="30" name="Shape 25"/>
          <p:cNvSpPr/>
          <p:nvPr/>
        </p:nvSpPr>
        <p:spPr>
          <a:xfrm>
            <a:off x="9328252" y="2157984"/>
            <a:ext cx="95555" cy="146304"/>
          </a:xfrm>
          <a:prstGeom prst="rightArrow">
            <a:avLst/>
          </a:prstGeom>
          <a:solidFill>
            <a:srgbClr val="5A7A9A"/>
          </a:solidFill>
          <a:ln/>
        </p:spPr>
      </p:sp>
      <p:sp>
        <p:nvSpPr>
          <p:cNvPr id="31" name="Shape 26"/>
          <p:cNvSpPr/>
          <p:nvPr/>
        </p:nvSpPr>
        <p:spPr>
          <a:xfrm>
            <a:off x="9438894" y="1874520"/>
            <a:ext cx="932688" cy="713232"/>
          </a:xfrm>
          <a:prstGeom prst="roundRect">
            <a:avLst>
              <a:gd name="adj" fmla="val 8974"/>
            </a:avLst>
          </a:prstGeom>
          <a:solidFill>
            <a:srgbClr val="1C3559"/>
          </a:solidFill>
          <a:ln w="12700">
            <a:solidFill>
              <a:srgbClr val="5A7A9A"/>
            </a:solidFill>
            <a:prstDash val="solid"/>
          </a:ln>
        </p:spPr>
      </p:sp>
      <p:sp>
        <p:nvSpPr>
          <p:cNvPr id="32" name="Text 27"/>
          <p:cNvSpPr/>
          <p:nvPr/>
        </p:nvSpPr>
        <p:spPr>
          <a:xfrm>
            <a:off x="9466326" y="1874520"/>
            <a:ext cx="877824" cy="713232"/>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Calibri" pitchFamily="34" charset="0"/>
                <a:ea typeface="Calibri" pitchFamily="34" charset="-122"/>
                <a:cs typeface="Calibri" pitchFamily="34" charset="-120"/>
              </a:rPr>
              <a:t>Communication</a:t>
            </a:r>
            <a:endParaRPr lang="en-US" sz="900" dirty="0"/>
          </a:p>
          <a:p>
            <a:pPr algn="ctr" indent="0" marL="0">
              <a:lnSpc>
                <a:spcPct val="100000"/>
              </a:lnSpc>
              <a:buNone/>
            </a:pPr>
            <a:r>
              <a:rPr lang="en-US" sz="900" b="1" dirty="0">
                <a:solidFill>
                  <a:srgbClr val="FFFFFF"/>
                </a:solidFill>
                <a:latin typeface="Calibri" pitchFamily="34" charset="0"/>
                <a:ea typeface="Calibri" pitchFamily="34" charset="-122"/>
                <a:cs typeface="Calibri" pitchFamily="34" charset="-120"/>
              </a:rPr>
              <a:t>Agent</a:t>
            </a:r>
            <a:endParaRPr lang="en-US" sz="900" dirty="0"/>
          </a:p>
        </p:txBody>
      </p:sp>
      <p:sp>
        <p:nvSpPr>
          <p:cNvPr id="33" name="Shape 28"/>
          <p:cNvSpPr/>
          <p:nvPr/>
        </p:nvSpPr>
        <p:spPr>
          <a:xfrm>
            <a:off x="10386670" y="2157984"/>
            <a:ext cx="95555" cy="146304"/>
          </a:xfrm>
          <a:prstGeom prst="rightArrow">
            <a:avLst/>
          </a:prstGeom>
          <a:solidFill>
            <a:srgbClr val="5A7A9A"/>
          </a:solidFill>
          <a:ln/>
        </p:spPr>
      </p:sp>
      <p:sp>
        <p:nvSpPr>
          <p:cNvPr id="34" name="Shape 29"/>
          <p:cNvSpPr/>
          <p:nvPr/>
        </p:nvSpPr>
        <p:spPr>
          <a:xfrm>
            <a:off x="10497312" y="1874520"/>
            <a:ext cx="932688" cy="713232"/>
          </a:xfrm>
          <a:prstGeom prst="roundRect">
            <a:avLst>
              <a:gd name="adj" fmla="val 8974"/>
            </a:avLst>
          </a:prstGeom>
          <a:solidFill>
            <a:srgbClr val="E4572E"/>
          </a:solidFill>
          <a:ln w="12700">
            <a:solidFill>
              <a:srgbClr val="E4572E"/>
            </a:solidFill>
            <a:prstDash val="solid"/>
          </a:ln>
        </p:spPr>
      </p:sp>
      <p:sp>
        <p:nvSpPr>
          <p:cNvPr id="35" name="Text 30"/>
          <p:cNvSpPr/>
          <p:nvPr/>
        </p:nvSpPr>
        <p:spPr>
          <a:xfrm>
            <a:off x="10524744" y="1874520"/>
            <a:ext cx="877824" cy="713232"/>
          </a:xfrm>
          <a:prstGeom prst="rect">
            <a:avLst/>
          </a:prstGeom>
          <a:noFill/>
          <a:ln/>
        </p:spPr>
        <p:txBody>
          <a:bodyPr wrap="square" lIns="0" tIns="0" rIns="0" bIns="0" rtlCol="0" anchor="ctr"/>
          <a:lstStyle/>
          <a:p>
            <a:pPr algn="ctr" indent="0" marL="0">
              <a:lnSpc>
                <a:spcPct val="100000"/>
              </a:lnSpc>
              <a:buNone/>
            </a:pPr>
            <a:r>
              <a:rPr lang="en-US" sz="900" b="1" dirty="0">
                <a:solidFill>
                  <a:srgbClr val="FFFFFF"/>
                </a:solidFill>
                <a:latin typeface="Calibri" pitchFamily="34" charset="0"/>
                <a:ea typeface="Calibri" pitchFamily="34" charset="-122"/>
                <a:cs typeface="Calibri" pitchFamily="34" charset="-120"/>
              </a:rPr>
              <a:t>Emergency</a:t>
            </a:r>
            <a:endParaRPr lang="en-US" sz="900" dirty="0"/>
          </a:p>
          <a:p>
            <a:pPr algn="ctr" indent="0" marL="0">
              <a:lnSpc>
                <a:spcPct val="100000"/>
              </a:lnSpc>
              <a:buNone/>
            </a:pPr>
            <a:r>
              <a:rPr lang="en-US" sz="900" b="1" dirty="0">
                <a:solidFill>
                  <a:srgbClr val="FFFFFF"/>
                </a:solidFill>
                <a:latin typeface="Calibri" pitchFamily="34" charset="0"/>
                <a:ea typeface="Calibri" pitchFamily="34" charset="-122"/>
                <a:cs typeface="Calibri" pitchFamily="34" charset="-120"/>
              </a:rPr>
              <a:t>Response</a:t>
            </a:r>
            <a:endParaRPr lang="en-US" sz="900" dirty="0"/>
          </a:p>
        </p:txBody>
      </p:sp>
      <p:sp>
        <p:nvSpPr>
          <p:cNvPr id="36" name="Text 31"/>
          <p:cNvSpPr/>
          <p:nvPr/>
        </p:nvSpPr>
        <p:spPr>
          <a:xfrm>
            <a:off x="6263640" y="2788920"/>
            <a:ext cx="5166360" cy="548640"/>
          </a:xfrm>
          <a:prstGeom prst="rect">
            <a:avLst/>
          </a:prstGeom>
          <a:noFill/>
          <a:ln/>
        </p:spPr>
        <p:txBody>
          <a:bodyPr wrap="square" lIns="0" tIns="0" rIns="0" bIns="0" rtlCol="0" anchor="ctr"/>
          <a:lstStyle/>
          <a:p>
            <a:pPr indent="0" marL="0">
              <a:lnSpc>
                <a:spcPct val="115000"/>
              </a:lnSpc>
              <a:buNone/>
            </a:pPr>
            <a:r>
              <a:rPr lang="en-US" sz="1000" i="1" dirty="0">
                <a:solidFill>
                  <a:srgbClr val="D9E4F1"/>
                </a:solidFill>
                <a:latin typeface="Calibri" pitchFamily="34" charset="0"/>
                <a:ea typeface="Calibri" pitchFamily="34" charset="-122"/>
                <a:cs typeface="Calibri" pitchFamily="34" charset="-120"/>
              </a:rPr>
              <a:t>Data flows left to right: raw signals become verified alerts and coordinated action.</a:t>
            </a:r>
            <a:endParaRPr lang="en-US" sz="1000" dirty="0"/>
          </a:p>
        </p:txBody>
      </p:sp>
      <p:sp>
        <p:nvSpPr>
          <p:cNvPr id="37" name="Shape 32"/>
          <p:cNvSpPr/>
          <p:nvPr/>
        </p:nvSpPr>
        <p:spPr>
          <a:xfrm>
            <a:off x="5989320" y="3977640"/>
            <a:ext cx="5715000" cy="2148840"/>
          </a:xfrm>
          <a:prstGeom prst="roundRect">
            <a:avLst>
              <a:gd name="adj" fmla="val 3830"/>
            </a:avLst>
          </a:prstGeom>
          <a:solidFill>
            <a:srgbClr val="FFFFFF"/>
          </a:solidFill>
          <a:ln w="12700">
            <a:solidFill>
              <a:srgbClr val="DDE3EC"/>
            </a:solidFill>
            <a:prstDash val="solid"/>
          </a:ln>
        </p:spPr>
      </p:sp>
      <p:sp>
        <p:nvSpPr>
          <p:cNvPr id="38" name="Text 33"/>
          <p:cNvSpPr/>
          <p:nvPr/>
        </p:nvSpPr>
        <p:spPr>
          <a:xfrm>
            <a:off x="6263640" y="4187952"/>
            <a:ext cx="5166360" cy="329184"/>
          </a:xfrm>
          <a:prstGeom prst="rect">
            <a:avLst/>
          </a:prstGeom>
          <a:noFill/>
          <a:ln/>
        </p:spPr>
        <p:txBody>
          <a:bodyPr wrap="square" lIns="0" tIns="0" rIns="0" bIns="0" rtlCol="0" anchor="ctr"/>
          <a:lstStyle/>
          <a:p>
            <a:pPr indent="0" marL="0">
              <a:buNone/>
            </a:pPr>
            <a:r>
              <a:rPr lang="en-US" sz="1400" b="1" dirty="0">
                <a:solidFill>
                  <a:srgbClr val="16233A"/>
                </a:solidFill>
                <a:latin typeface="Calibri" pitchFamily="34" charset="0"/>
                <a:ea typeface="Calibri" pitchFamily="34" charset="-122"/>
                <a:cs typeface="Calibri" pitchFamily="34" charset="-120"/>
              </a:rPr>
              <a:t>Why Multi-Agent, not Centralized?</a:t>
            </a:r>
            <a:endParaRPr lang="en-US" sz="1400" dirty="0"/>
          </a:p>
        </p:txBody>
      </p:sp>
      <p:sp>
        <p:nvSpPr>
          <p:cNvPr id="39" name="Text 34"/>
          <p:cNvSpPr/>
          <p:nvPr/>
        </p:nvSpPr>
        <p:spPr>
          <a:xfrm>
            <a:off x="6263640" y="4617720"/>
            <a:ext cx="5166360" cy="1417320"/>
          </a:xfrm>
          <a:prstGeom prst="rect">
            <a:avLst/>
          </a:prstGeom>
          <a:noFill/>
          <a:ln/>
        </p:spPr>
        <p:txBody>
          <a:bodyPr wrap="square" lIns="0" tIns="0" rIns="0" bIns="0" rtlCol="0" anchor="t"/>
          <a:lstStyle/>
          <a:p>
            <a:pPr marL="152400" indent="-152400">
              <a:spcAft>
                <a:spcPts val="1200"/>
              </a:spcAft>
              <a:buSzPct val="100000"/>
              <a:buChar char="•"/>
            </a:pPr>
            <a:r>
              <a:rPr lang="en-US" sz="1150" dirty="0">
                <a:solidFill>
                  <a:srgbClr val="16233A"/>
                </a:solidFill>
                <a:latin typeface="Calibri" pitchFamily="34" charset="0"/>
                <a:ea typeface="Calibri" pitchFamily="34" charset="-122"/>
                <a:cs typeface="Calibri" pitchFamily="34" charset="-120"/>
              </a:rPr>
              <a:t>Specialization: each agent focuses on one task, improving accuracy.</a:t>
            </a:r>
            <a:endParaRPr lang="en-US" sz="1150" dirty="0"/>
          </a:p>
          <a:p>
            <a:pPr marL="152400" indent="-152400">
              <a:spcAft>
                <a:spcPts val="1200"/>
              </a:spcAft>
              <a:buSzPct val="100000"/>
              <a:buChar char="•"/>
            </a:pPr>
            <a:r>
              <a:rPr lang="en-US" sz="1150" dirty="0">
                <a:solidFill>
                  <a:srgbClr val="16233A"/>
                </a:solidFill>
                <a:latin typeface="Calibri" pitchFamily="34" charset="0"/>
                <a:ea typeface="Calibri" pitchFamily="34" charset="-122"/>
                <a:cs typeface="Calibri" pitchFamily="34" charset="-120"/>
              </a:rPr>
              <a:t>Resilience: failure of one agent does not stall the whole system.</a:t>
            </a:r>
            <a:endParaRPr lang="en-US" sz="1150" dirty="0"/>
          </a:p>
          <a:p>
            <a:pPr marL="152400" indent="-152400">
              <a:spcAft>
                <a:spcPts val="1200"/>
              </a:spcAft>
              <a:buSzPct val="100000"/>
              <a:buChar char="•"/>
            </a:pPr>
            <a:r>
              <a:rPr lang="en-US" sz="1150" dirty="0">
                <a:solidFill>
                  <a:srgbClr val="16233A"/>
                </a:solidFill>
                <a:latin typeface="Calibri" pitchFamily="34" charset="0"/>
                <a:ea typeface="Calibri" pitchFamily="34" charset="-122"/>
                <a:cs typeface="Calibri" pitchFamily="34" charset="-120"/>
              </a:rPr>
              <a:t>Scalability: new sensor or region agents can be added easily.</a:t>
            </a:r>
            <a:endParaRPr lang="en-US" sz="1150" dirty="0"/>
          </a:p>
          <a:p>
            <a:pPr marL="152400" indent="-152400">
              <a:spcAft>
                <a:spcPts val="1200"/>
              </a:spcAft>
              <a:buSzPct val="100000"/>
              <a:buChar char="•"/>
            </a:pPr>
            <a:r>
              <a:rPr lang="en-US" sz="1150" dirty="0">
                <a:solidFill>
                  <a:srgbClr val="16233A"/>
                </a:solidFill>
                <a:latin typeface="Calibri" pitchFamily="34" charset="0"/>
                <a:ea typeface="Calibri" pitchFamily="34" charset="-122"/>
                <a:cs typeface="Calibri" pitchFamily="34" charset="-120"/>
              </a:rPr>
              <a:t>Efficiency: parallel processing avoids single-point bottlenecks.</a:t>
            </a:r>
            <a:endParaRPr lang="en-US" sz="1150" dirty="0"/>
          </a:p>
        </p:txBody>
      </p:sp>
      <p:sp>
        <p:nvSpPr>
          <p:cNvPr id="40" name="Text 35"/>
          <p:cNvSpPr/>
          <p:nvPr/>
        </p:nvSpPr>
        <p:spPr>
          <a:xfrm>
            <a:off x="457200" y="6537960"/>
            <a:ext cx="7315200" cy="274320"/>
          </a:xfrm>
          <a:prstGeom prst="rect">
            <a:avLst/>
          </a:prstGeom>
          <a:noFill/>
          <a:ln/>
        </p:spPr>
        <p:txBody>
          <a:bodyPr wrap="square" lIns="0" tIns="0" rIns="0" bIns="0" rtlCol="0" anchor="ctr"/>
          <a:lstStyle/>
          <a:p>
            <a:pPr indent="0" marL="0">
              <a:buNone/>
            </a:pPr>
            <a:r>
              <a:rPr lang="en-US" sz="900" i="1" dirty="0">
                <a:solidFill>
                  <a:srgbClr val="5B6B84"/>
                </a:solidFill>
                <a:latin typeface="Calibri" pitchFamily="34" charset="0"/>
                <a:ea typeface="Calibri" pitchFamily="34" charset="-122"/>
                <a:cs typeface="Calibri" pitchFamily="34" charset="-120"/>
              </a:rPr>
              <a:t>Multi-Agent System for Disaster Management</a:t>
            </a:r>
            <a:endParaRPr lang="en-US" sz="900" dirty="0"/>
          </a:p>
        </p:txBody>
      </p:sp>
      <p:sp>
        <p:nvSpPr>
          <p:cNvPr id="41" name="Text 36"/>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8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2600" b="1" dirty="0">
                <a:solidFill>
                  <a:srgbClr val="16233A"/>
                </a:solidFill>
                <a:latin typeface="Cambria" pitchFamily="34" charset="0"/>
                <a:ea typeface="Cambria" pitchFamily="34" charset="-122"/>
                <a:cs typeface="Cambria" pitchFamily="34" charset="-120"/>
              </a:rPr>
              <a:t>Multi-Agent Architecture and Working</a:t>
            </a:r>
            <a:endParaRPr lang="en-US" sz="2600" dirty="0"/>
          </a:p>
        </p:txBody>
      </p:sp>
      <p:sp>
        <p:nvSpPr>
          <p:cNvPr id="3" name="Shape 1"/>
          <p:cNvSpPr/>
          <p:nvPr/>
        </p:nvSpPr>
        <p:spPr>
          <a:xfrm>
            <a:off x="475488" y="914400"/>
            <a:ext cx="457200" cy="36576"/>
          </a:xfrm>
          <a:prstGeom prst="rect">
            <a:avLst/>
          </a:prstGeom>
          <a:solidFill>
            <a:srgbClr val="E4572E"/>
          </a:solidFill>
          <a:ln/>
        </p:spPr>
      </p:sp>
      <p:sp>
        <p:nvSpPr>
          <p:cNvPr id="4" name="Text 2"/>
          <p:cNvSpPr/>
          <p:nvPr/>
        </p:nvSpPr>
        <p:spPr>
          <a:xfrm>
            <a:off x="502920" y="1115568"/>
            <a:ext cx="3657600" cy="256032"/>
          </a:xfrm>
          <a:prstGeom prst="rect">
            <a:avLst/>
          </a:prstGeom>
          <a:noFill/>
          <a:ln/>
        </p:spPr>
        <p:txBody>
          <a:bodyPr wrap="square" lIns="0" tIns="0" rIns="0" bIns="0" rtlCol="0" anchor="ctr"/>
          <a:lstStyle/>
          <a:p>
            <a:pPr indent="0" marL="0">
              <a:buNone/>
            </a:pPr>
            <a:r>
              <a:rPr lang="en-US" sz="1100" b="1" spc="150" kern="0" dirty="0">
                <a:solidFill>
                  <a:srgbClr val="5A7A9A"/>
                </a:solidFill>
                <a:latin typeface="Calibri" pitchFamily="34" charset="0"/>
                <a:ea typeface="Calibri" pitchFamily="34" charset="-122"/>
                <a:cs typeface="Calibri" pitchFamily="34" charset="-120"/>
              </a:rPr>
              <a:t>WORKFLOW</a:t>
            </a:r>
            <a:endParaRPr lang="en-US" sz="1100" dirty="0"/>
          </a:p>
        </p:txBody>
      </p:sp>
      <p:sp>
        <p:nvSpPr>
          <p:cNvPr id="5" name="Shape 3"/>
          <p:cNvSpPr/>
          <p:nvPr/>
        </p:nvSpPr>
        <p:spPr>
          <a:xfrm>
            <a:off x="502920" y="1444752"/>
            <a:ext cx="310896" cy="310896"/>
          </a:xfrm>
          <a:prstGeom prst="ellipse">
            <a:avLst/>
          </a:prstGeom>
          <a:solidFill>
            <a:srgbClr val="13223D"/>
          </a:solidFill>
          <a:ln/>
        </p:spPr>
      </p:sp>
      <p:sp>
        <p:nvSpPr>
          <p:cNvPr id="6" name="Text 4"/>
          <p:cNvSpPr/>
          <p:nvPr/>
        </p:nvSpPr>
        <p:spPr>
          <a:xfrm>
            <a:off x="502920" y="144475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960120" y="1399032"/>
            <a:ext cx="4526280" cy="502920"/>
          </a:xfrm>
          <a:prstGeom prst="rect">
            <a:avLst/>
          </a:prstGeom>
          <a:noFill/>
          <a:ln/>
        </p:spPr>
        <p:txBody>
          <a:bodyPr wrap="square" lIns="0" tIns="0" rIns="0" bIns="0" rtlCol="0" anchor="t"/>
          <a:lstStyle/>
          <a:p>
            <a:pPr indent="0" marL="0">
              <a:lnSpc>
                <a:spcPct val="105000"/>
              </a:lnSpc>
              <a:buNone/>
            </a:pPr>
            <a:r>
              <a:rPr lang="en-US" sz="1080" dirty="0">
                <a:solidFill>
                  <a:srgbClr val="16233A"/>
                </a:solidFill>
                <a:latin typeface="Calibri" pitchFamily="34" charset="0"/>
                <a:ea typeface="Calibri" pitchFamily="34" charset="-122"/>
                <a:cs typeface="Calibri" pitchFamily="34" charset="-120"/>
              </a:rPr>
              <a:t>Sensors continuously collect real-time disaster-related data.</a:t>
            </a:r>
            <a:endParaRPr lang="en-US" sz="1080" dirty="0"/>
          </a:p>
        </p:txBody>
      </p:sp>
      <p:sp>
        <p:nvSpPr>
          <p:cNvPr id="8" name="Shape 6"/>
          <p:cNvSpPr/>
          <p:nvPr/>
        </p:nvSpPr>
        <p:spPr>
          <a:xfrm>
            <a:off x="502920" y="2011680"/>
            <a:ext cx="310896" cy="310896"/>
          </a:xfrm>
          <a:prstGeom prst="ellipse">
            <a:avLst/>
          </a:prstGeom>
          <a:solidFill>
            <a:srgbClr val="13223D"/>
          </a:solidFill>
          <a:ln/>
        </p:spPr>
      </p:sp>
      <p:sp>
        <p:nvSpPr>
          <p:cNvPr id="9" name="Text 7"/>
          <p:cNvSpPr/>
          <p:nvPr/>
        </p:nvSpPr>
        <p:spPr>
          <a:xfrm>
            <a:off x="502920" y="201168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p:nvPr/>
        </p:nvSpPr>
        <p:spPr>
          <a:xfrm>
            <a:off x="960120" y="1965960"/>
            <a:ext cx="4526280" cy="502920"/>
          </a:xfrm>
          <a:prstGeom prst="rect">
            <a:avLst/>
          </a:prstGeom>
          <a:noFill/>
          <a:ln/>
        </p:spPr>
        <p:txBody>
          <a:bodyPr wrap="square" lIns="0" tIns="0" rIns="0" bIns="0" rtlCol="0" anchor="t"/>
          <a:lstStyle/>
          <a:p>
            <a:pPr indent="0" marL="0">
              <a:lnSpc>
                <a:spcPct val="105000"/>
              </a:lnSpc>
              <a:buNone/>
            </a:pPr>
            <a:r>
              <a:rPr lang="en-US" sz="1080" dirty="0">
                <a:solidFill>
                  <a:srgbClr val="16233A"/>
                </a:solidFill>
                <a:latin typeface="Calibri" pitchFamily="34" charset="0"/>
                <a:ea typeface="Calibri" pitchFamily="34" charset="-122"/>
                <a:cs typeface="Calibri" pitchFamily="34" charset="-120"/>
              </a:rPr>
              <a:t>Sensor Agents preprocess and transmit the observations.</a:t>
            </a:r>
            <a:endParaRPr lang="en-US" sz="1080" dirty="0"/>
          </a:p>
        </p:txBody>
      </p:sp>
      <p:sp>
        <p:nvSpPr>
          <p:cNvPr id="11" name="Shape 9"/>
          <p:cNvSpPr/>
          <p:nvPr/>
        </p:nvSpPr>
        <p:spPr>
          <a:xfrm>
            <a:off x="502920" y="2578608"/>
            <a:ext cx="310896" cy="310896"/>
          </a:xfrm>
          <a:prstGeom prst="ellipse">
            <a:avLst/>
          </a:prstGeom>
          <a:solidFill>
            <a:srgbClr val="13223D"/>
          </a:solidFill>
          <a:ln/>
        </p:spPr>
      </p:sp>
      <p:sp>
        <p:nvSpPr>
          <p:cNvPr id="12" name="Text 10"/>
          <p:cNvSpPr/>
          <p:nvPr/>
        </p:nvSpPr>
        <p:spPr>
          <a:xfrm>
            <a:off x="502920" y="2578608"/>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1"/>
          <p:cNvSpPr/>
          <p:nvPr/>
        </p:nvSpPr>
        <p:spPr>
          <a:xfrm>
            <a:off x="960120" y="2532888"/>
            <a:ext cx="4526280" cy="502920"/>
          </a:xfrm>
          <a:prstGeom prst="rect">
            <a:avLst/>
          </a:prstGeom>
          <a:noFill/>
          <a:ln/>
        </p:spPr>
        <p:txBody>
          <a:bodyPr wrap="square" lIns="0" tIns="0" rIns="0" bIns="0" rtlCol="0" anchor="t"/>
          <a:lstStyle/>
          <a:p>
            <a:pPr indent="0" marL="0">
              <a:lnSpc>
                <a:spcPct val="105000"/>
              </a:lnSpc>
              <a:buNone/>
            </a:pPr>
            <a:r>
              <a:rPr lang="en-US" sz="1080" dirty="0">
                <a:solidFill>
                  <a:srgbClr val="16233A"/>
                </a:solidFill>
                <a:latin typeface="Calibri" pitchFamily="34" charset="0"/>
                <a:ea typeface="Calibri" pitchFamily="34" charset="-122"/>
                <a:cs typeface="Calibri" pitchFamily="34" charset="-120"/>
              </a:rPr>
              <a:t>Decision Agents analyze the collected information.</a:t>
            </a:r>
            <a:endParaRPr lang="en-US" sz="1080" dirty="0"/>
          </a:p>
        </p:txBody>
      </p:sp>
      <p:sp>
        <p:nvSpPr>
          <p:cNvPr id="14" name="Shape 12"/>
          <p:cNvSpPr/>
          <p:nvPr/>
        </p:nvSpPr>
        <p:spPr>
          <a:xfrm>
            <a:off x="502920" y="3145536"/>
            <a:ext cx="310896" cy="310896"/>
          </a:xfrm>
          <a:prstGeom prst="ellipse">
            <a:avLst/>
          </a:prstGeom>
          <a:solidFill>
            <a:srgbClr val="13223D"/>
          </a:solidFill>
          <a:ln/>
        </p:spPr>
      </p:sp>
      <p:sp>
        <p:nvSpPr>
          <p:cNvPr id="15" name="Text 13"/>
          <p:cNvSpPr/>
          <p:nvPr/>
        </p:nvSpPr>
        <p:spPr>
          <a:xfrm>
            <a:off x="502920" y="3145536"/>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4"/>
          <p:cNvSpPr/>
          <p:nvPr/>
        </p:nvSpPr>
        <p:spPr>
          <a:xfrm>
            <a:off x="960120" y="3099816"/>
            <a:ext cx="4526280" cy="502920"/>
          </a:xfrm>
          <a:prstGeom prst="rect">
            <a:avLst/>
          </a:prstGeom>
          <a:noFill/>
          <a:ln/>
        </p:spPr>
        <p:txBody>
          <a:bodyPr wrap="square" lIns="0" tIns="0" rIns="0" bIns="0" rtlCol="0" anchor="t"/>
          <a:lstStyle/>
          <a:p>
            <a:pPr indent="0" marL="0">
              <a:lnSpc>
                <a:spcPct val="105000"/>
              </a:lnSpc>
              <a:buNone/>
            </a:pPr>
            <a:r>
              <a:rPr lang="en-US" sz="1080" dirty="0">
                <a:solidFill>
                  <a:srgbClr val="16233A"/>
                </a:solidFill>
                <a:latin typeface="Calibri" pitchFamily="34" charset="0"/>
                <a:ea typeface="Calibri" pitchFamily="34" charset="-122"/>
                <a:cs typeface="Calibri" pitchFamily="34" charset="-120"/>
              </a:rPr>
              <a:t>Agents communicate to confirm events and reduce false alarms.</a:t>
            </a:r>
            <a:endParaRPr lang="en-US" sz="1080" dirty="0"/>
          </a:p>
        </p:txBody>
      </p:sp>
      <p:sp>
        <p:nvSpPr>
          <p:cNvPr id="17" name="Shape 15"/>
          <p:cNvSpPr/>
          <p:nvPr/>
        </p:nvSpPr>
        <p:spPr>
          <a:xfrm>
            <a:off x="502920" y="3712464"/>
            <a:ext cx="310896" cy="310896"/>
          </a:xfrm>
          <a:prstGeom prst="ellipse">
            <a:avLst/>
          </a:prstGeom>
          <a:solidFill>
            <a:srgbClr val="13223D"/>
          </a:solidFill>
          <a:ln/>
        </p:spPr>
      </p:sp>
      <p:sp>
        <p:nvSpPr>
          <p:cNvPr id="18" name="Text 16"/>
          <p:cNvSpPr/>
          <p:nvPr/>
        </p:nvSpPr>
        <p:spPr>
          <a:xfrm>
            <a:off x="502920" y="37124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9" name="Text 17"/>
          <p:cNvSpPr/>
          <p:nvPr/>
        </p:nvSpPr>
        <p:spPr>
          <a:xfrm>
            <a:off x="960120" y="3666744"/>
            <a:ext cx="4526280" cy="502920"/>
          </a:xfrm>
          <a:prstGeom prst="rect">
            <a:avLst/>
          </a:prstGeom>
          <a:noFill/>
          <a:ln/>
        </p:spPr>
        <p:txBody>
          <a:bodyPr wrap="square" lIns="0" tIns="0" rIns="0" bIns="0" rtlCol="0" anchor="t"/>
          <a:lstStyle/>
          <a:p>
            <a:pPr indent="0" marL="0">
              <a:lnSpc>
                <a:spcPct val="105000"/>
              </a:lnSpc>
              <a:buNone/>
            </a:pPr>
            <a:r>
              <a:rPr lang="en-US" sz="1080" dirty="0">
                <a:solidFill>
                  <a:srgbClr val="16233A"/>
                </a:solidFill>
                <a:latin typeface="Calibri" pitchFamily="34" charset="0"/>
                <a:ea typeface="Calibri" pitchFamily="34" charset="-122"/>
                <a:cs typeface="Calibri" pitchFamily="34" charset="-120"/>
              </a:rPr>
              <a:t>The system determines the appropriate response.</a:t>
            </a:r>
            <a:endParaRPr lang="en-US" sz="1080" dirty="0"/>
          </a:p>
        </p:txBody>
      </p:sp>
      <p:sp>
        <p:nvSpPr>
          <p:cNvPr id="20" name="Shape 18"/>
          <p:cNvSpPr/>
          <p:nvPr/>
        </p:nvSpPr>
        <p:spPr>
          <a:xfrm>
            <a:off x="502920" y="4279392"/>
            <a:ext cx="310896" cy="310896"/>
          </a:xfrm>
          <a:prstGeom prst="ellipse">
            <a:avLst/>
          </a:prstGeom>
          <a:solidFill>
            <a:srgbClr val="13223D"/>
          </a:solidFill>
          <a:ln/>
        </p:spPr>
      </p:sp>
      <p:sp>
        <p:nvSpPr>
          <p:cNvPr id="21" name="Text 19"/>
          <p:cNvSpPr/>
          <p:nvPr/>
        </p:nvSpPr>
        <p:spPr>
          <a:xfrm>
            <a:off x="502920" y="427939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2" name="Text 20"/>
          <p:cNvSpPr/>
          <p:nvPr/>
        </p:nvSpPr>
        <p:spPr>
          <a:xfrm>
            <a:off x="960120" y="4233672"/>
            <a:ext cx="4526280" cy="502920"/>
          </a:xfrm>
          <a:prstGeom prst="rect">
            <a:avLst/>
          </a:prstGeom>
          <a:noFill/>
          <a:ln/>
        </p:spPr>
        <p:txBody>
          <a:bodyPr wrap="square" lIns="0" tIns="0" rIns="0" bIns="0" rtlCol="0" anchor="t"/>
          <a:lstStyle/>
          <a:p>
            <a:pPr indent="0" marL="0">
              <a:lnSpc>
                <a:spcPct val="105000"/>
              </a:lnSpc>
              <a:buNone/>
            </a:pPr>
            <a:r>
              <a:rPr lang="en-US" sz="1080" dirty="0">
                <a:solidFill>
                  <a:srgbClr val="16233A"/>
                </a:solidFill>
                <a:latin typeface="Calibri" pitchFamily="34" charset="0"/>
                <a:ea typeface="Calibri" pitchFamily="34" charset="-122"/>
                <a:cs typeface="Calibri" pitchFamily="34" charset="-120"/>
              </a:rPr>
              <a:t>Communication Agents distribute alerts to teams and affected areas.</a:t>
            </a:r>
            <a:endParaRPr lang="en-US" sz="1080" dirty="0"/>
          </a:p>
        </p:txBody>
      </p:sp>
      <p:sp>
        <p:nvSpPr>
          <p:cNvPr id="23" name="Shape 21"/>
          <p:cNvSpPr/>
          <p:nvPr/>
        </p:nvSpPr>
        <p:spPr>
          <a:xfrm>
            <a:off x="502920" y="4846320"/>
            <a:ext cx="310896" cy="310896"/>
          </a:xfrm>
          <a:prstGeom prst="ellipse">
            <a:avLst/>
          </a:prstGeom>
          <a:solidFill>
            <a:srgbClr val="E4572E"/>
          </a:solidFill>
          <a:ln/>
        </p:spPr>
      </p:sp>
      <p:sp>
        <p:nvSpPr>
          <p:cNvPr id="24" name="Text 22"/>
          <p:cNvSpPr/>
          <p:nvPr/>
        </p:nvSpPr>
        <p:spPr>
          <a:xfrm>
            <a:off x="502920" y="484632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5" name="Text 23"/>
          <p:cNvSpPr/>
          <p:nvPr/>
        </p:nvSpPr>
        <p:spPr>
          <a:xfrm>
            <a:off x="960120" y="4800600"/>
            <a:ext cx="4526280" cy="502920"/>
          </a:xfrm>
          <a:prstGeom prst="rect">
            <a:avLst/>
          </a:prstGeom>
          <a:noFill/>
          <a:ln/>
        </p:spPr>
        <p:txBody>
          <a:bodyPr wrap="square" lIns="0" tIns="0" rIns="0" bIns="0" rtlCol="0" anchor="t"/>
          <a:lstStyle/>
          <a:p>
            <a:pPr indent="0" marL="0">
              <a:lnSpc>
                <a:spcPct val="105000"/>
              </a:lnSpc>
              <a:buNone/>
            </a:pPr>
            <a:r>
              <a:rPr lang="en-US" sz="1080" dirty="0">
                <a:solidFill>
                  <a:srgbClr val="16233A"/>
                </a:solidFill>
                <a:latin typeface="Calibri" pitchFamily="34" charset="0"/>
                <a:ea typeface="Calibri" pitchFamily="34" charset="-122"/>
                <a:cs typeface="Calibri" pitchFamily="34" charset="-120"/>
              </a:rPr>
              <a:t>The system continuously receives new data and updates decisions.</a:t>
            </a:r>
            <a:endParaRPr lang="en-US" sz="1080" dirty="0"/>
          </a:p>
        </p:txBody>
      </p:sp>
      <p:sp>
        <p:nvSpPr>
          <p:cNvPr id="26" name="Shape 24"/>
          <p:cNvSpPr/>
          <p:nvPr/>
        </p:nvSpPr>
        <p:spPr>
          <a:xfrm>
            <a:off x="5989320" y="1115568"/>
            <a:ext cx="5715000" cy="5166360"/>
          </a:xfrm>
          <a:prstGeom prst="roundRect">
            <a:avLst>
              <a:gd name="adj" fmla="val 1593"/>
            </a:avLst>
          </a:prstGeom>
          <a:solidFill>
            <a:srgbClr val="13223D"/>
          </a:solidFill>
          <a:ln/>
        </p:spPr>
      </p:sp>
      <p:sp>
        <p:nvSpPr>
          <p:cNvPr id="27" name="Text 25"/>
          <p:cNvSpPr/>
          <p:nvPr/>
        </p:nvSpPr>
        <p:spPr>
          <a:xfrm>
            <a:off x="6263640" y="1280160"/>
            <a:ext cx="4572000" cy="256032"/>
          </a:xfrm>
          <a:prstGeom prst="rect">
            <a:avLst/>
          </a:prstGeom>
          <a:noFill/>
          <a:ln/>
        </p:spPr>
        <p:txBody>
          <a:bodyPr wrap="square" lIns="0" tIns="0" rIns="0" bIns="0" rtlCol="0" anchor="ctr"/>
          <a:lstStyle/>
          <a:p>
            <a:pPr indent="0" marL="0">
              <a:buNone/>
            </a:pPr>
            <a:r>
              <a:rPr lang="en-US" sz="1050" b="1" spc="150" kern="0" dirty="0">
                <a:solidFill>
                  <a:srgbClr val="5A7A9A"/>
                </a:solidFill>
                <a:latin typeface="Calibri" pitchFamily="34" charset="0"/>
                <a:ea typeface="Calibri" pitchFamily="34" charset="-122"/>
                <a:cs typeface="Calibri" pitchFamily="34" charset="-120"/>
              </a:rPr>
              <a:t>TECHNICAL ARCHITECTURE</a:t>
            </a:r>
            <a:endParaRPr lang="en-US" sz="1050" dirty="0"/>
          </a:p>
        </p:txBody>
      </p:sp>
      <p:sp>
        <p:nvSpPr>
          <p:cNvPr id="28" name="Shape 26"/>
          <p:cNvSpPr/>
          <p:nvPr/>
        </p:nvSpPr>
        <p:spPr>
          <a:xfrm>
            <a:off x="6720840" y="1664208"/>
            <a:ext cx="4572000" cy="530352"/>
          </a:xfrm>
          <a:prstGeom prst="roundRect">
            <a:avLst>
              <a:gd name="adj" fmla="val 12069"/>
            </a:avLst>
          </a:prstGeom>
          <a:solidFill>
            <a:srgbClr val="1C3559"/>
          </a:solidFill>
          <a:ln w="12700">
            <a:solidFill>
              <a:srgbClr val="5A7A9A"/>
            </a:solidFill>
            <a:prstDash val="solid"/>
          </a:ln>
        </p:spPr>
      </p:sp>
      <p:pic>
        <p:nvPicPr>
          <p:cNvPr id="29" name="Image 0" descr="/home/claude/icons/sensor_white.png">    </p:cNvPr>
          <p:cNvPicPr>
            <a:picLocks noChangeAspect="1"/>
          </p:cNvPicPr>
          <p:nvPr/>
        </p:nvPicPr>
        <p:blipFill>
          <a:blip r:embed="rId1"/>
          <a:stretch>
            <a:fillRect/>
          </a:stretch>
        </p:blipFill>
        <p:spPr>
          <a:xfrm>
            <a:off x="6848856" y="1783080"/>
            <a:ext cx="292608" cy="292608"/>
          </a:xfrm>
          <a:prstGeom prst="rect">
            <a:avLst/>
          </a:prstGeom>
        </p:spPr>
      </p:pic>
      <p:sp>
        <p:nvSpPr>
          <p:cNvPr id="30" name="Text 27"/>
          <p:cNvSpPr/>
          <p:nvPr/>
        </p:nvSpPr>
        <p:spPr>
          <a:xfrm>
            <a:off x="7251192" y="1664208"/>
            <a:ext cx="3931920" cy="53035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Environmental Sensors</a:t>
            </a:r>
            <a:endParaRPr lang="en-US" sz="1150" dirty="0"/>
          </a:p>
        </p:txBody>
      </p:sp>
      <p:sp>
        <p:nvSpPr>
          <p:cNvPr id="31" name="Shape 28"/>
          <p:cNvSpPr/>
          <p:nvPr/>
        </p:nvSpPr>
        <p:spPr>
          <a:xfrm>
            <a:off x="8933688" y="2203704"/>
            <a:ext cx="146304" cy="150876"/>
          </a:xfrm>
          <a:prstGeom prst="downArrow">
            <a:avLst/>
          </a:prstGeom>
          <a:solidFill>
            <a:srgbClr val="5A7A9A"/>
          </a:solidFill>
          <a:ln/>
        </p:spPr>
      </p:sp>
      <p:sp>
        <p:nvSpPr>
          <p:cNvPr id="32" name="Shape 29"/>
          <p:cNvSpPr/>
          <p:nvPr/>
        </p:nvSpPr>
        <p:spPr>
          <a:xfrm>
            <a:off x="6720840" y="2363724"/>
            <a:ext cx="4572000" cy="530352"/>
          </a:xfrm>
          <a:prstGeom prst="roundRect">
            <a:avLst>
              <a:gd name="adj" fmla="val 12069"/>
            </a:avLst>
          </a:prstGeom>
          <a:solidFill>
            <a:srgbClr val="1C3559"/>
          </a:solidFill>
          <a:ln w="12700">
            <a:solidFill>
              <a:srgbClr val="5A7A9A"/>
            </a:solidFill>
            <a:prstDash val="solid"/>
          </a:ln>
        </p:spPr>
      </p:sp>
      <p:pic>
        <p:nvPicPr>
          <p:cNvPr id="33" name="Image 1" descr="/home/claude/icons/tower_white.png">    </p:cNvPr>
          <p:cNvPicPr>
            <a:picLocks noChangeAspect="1"/>
          </p:cNvPicPr>
          <p:nvPr/>
        </p:nvPicPr>
        <p:blipFill>
          <a:blip r:embed="rId2"/>
          <a:stretch>
            <a:fillRect/>
          </a:stretch>
        </p:blipFill>
        <p:spPr>
          <a:xfrm>
            <a:off x="6848856" y="2482596"/>
            <a:ext cx="292608" cy="292608"/>
          </a:xfrm>
          <a:prstGeom prst="rect">
            <a:avLst/>
          </a:prstGeom>
        </p:spPr>
      </p:pic>
      <p:sp>
        <p:nvSpPr>
          <p:cNvPr id="34" name="Text 30"/>
          <p:cNvSpPr/>
          <p:nvPr/>
        </p:nvSpPr>
        <p:spPr>
          <a:xfrm>
            <a:off x="7251192" y="2363724"/>
            <a:ext cx="3931920" cy="53035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Sensor Agents</a:t>
            </a:r>
            <a:endParaRPr lang="en-US" sz="1150" dirty="0"/>
          </a:p>
        </p:txBody>
      </p:sp>
      <p:sp>
        <p:nvSpPr>
          <p:cNvPr id="35" name="Shape 31"/>
          <p:cNvSpPr/>
          <p:nvPr/>
        </p:nvSpPr>
        <p:spPr>
          <a:xfrm>
            <a:off x="8933688" y="2903220"/>
            <a:ext cx="146304" cy="150876"/>
          </a:xfrm>
          <a:prstGeom prst="downArrow">
            <a:avLst/>
          </a:prstGeom>
          <a:solidFill>
            <a:srgbClr val="5A7A9A"/>
          </a:solidFill>
          <a:ln/>
        </p:spPr>
      </p:sp>
      <p:sp>
        <p:nvSpPr>
          <p:cNvPr id="36" name="Shape 32"/>
          <p:cNvSpPr/>
          <p:nvPr/>
        </p:nvSpPr>
        <p:spPr>
          <a:xfrm>
            <a:off x="6720840" y="3063240"/>
            <a:ext cx="4572000" cy="530352"/>
          </a:xfrm>
          <a:prstGeom prst="roundRect">
            <a:avLst>
              <a:gd name="adj" fmla="val 12069"/>
            </a:avLst>
          </a:prstGeom>
          <a:solidFill>
            <a:srgbClr val="1C3559"/>
          </a:solidFill>
          <a:ln w="12700">
            <a:solidFill>
              <a:srgbClr val="5A7A9A"/>
            </a:solidFill>
            <a:prstDash val="solid"/>
          </a:ln>
        </p:spPr>
      </p:sp>
      <p:pic>
        <p:nvPicPr>
          <p:cNvPr id="37" name="Image 2" descr="/home/claude/icons/server_white.png">    </p:cNvPr>
          <p:cNvPicPr>
            <a:picLocks noChangeAspect="1"/>
          </p:cNvPicPr>
          <p:nvPr/>
        </p:nvPicPr>
        <p:blipFill>
          <a:blip r:embed="rId3"/>
          <a:stretch>
            <a:fillRect/>
          </a:stretch>
        </p:blipFill>
        <p:spPr>
          <a:xfrm>
            <a:off x="6848856" y="3182112"/>
            <a:ext cx="292608" cy="292608"/>
          </a:xfrm>
          <a:prstGeom prst="rect">
            <a:avLst/>
          </a:prstGeom>
        </p:spPr>
      </p:pic>
      <p:sp>
        <p:nvSpPr>
          <p:cNvPr id="38" name="Text 33"/>
          <p:cNvSpPr/>
          <p:nvPr/>
        </p:nvSpPr>
        <p:spPr>
          <a:xfrm>
            <a:off x="7251192" y="3063240"/>
            <a:ext cx="3931920" cy="53035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Distributed Data Processing (PySpark)</a:t>
            </a:r>
            <a:endParaRPr lang="en-US" sz="1150" dirty="0"/>
          </a:p>
        </p:txBody>
      </p:sp>
      <p:sp>
        <p:nvSpPr>
          <p:cNvPr id="39" name="Shape 34"/>
          <p:cNvSpPr/>
          <p:nvPr/>
        </p:nvSpPr>
        <p:spPr>
          <a:xfrm>
            <a:off x="8933688" y="3602736"/>
            <a:ext cx="146304" cy="150876"/>
          </a:xfrm>
          <a:prstGeom prst="downArrow">
            <a:avLst/>
          </a:prstGeom>
          <a:solidFill>
            <a:srgbClr val="5A7A9A"/>
          </a:solidFill>
          <a:ln/>
        </p:spPr>
      </p:sp>
      <p:sp>
        <p:nvSpPr>
          <p:cNvPr id="40" name="Shape 35"/>
          <p:cNvSpPr/>
          <p:nvPr/>
        </p:nvSpPr>
        <p:spPr>
          <a:xfrm>
            <a:off x="6720840" y="3762756"/>
            <a:ext cx="4572000" cy="530352"/>
          </a:xfrm>
          <a:prstGeom prst="roundRect">
            <a:avLst>
              <a:gd name="adj" fmla="val 12069"/>
            </a:avLst>
          </a:prstGeom>
          <a:solidFill>
            <a:srgbClr val="1C3559"/>
          </a:solidFill>
          <a:ln w="12700">
            <a:solidFill>
              <a:srgbClr val="5A7A9A"/>
            </a:solidFill>
            <a:prstDash val="solid"/>
          </a:ln>
        </p:spPr>
      </p:sp>
      <p:pic>
        <p:nvPicPr>
          <p:cNvPr id="41" name="Image 3" descr="/home/claude/icons/decision_white.png">    </p:cNvPr>
          <p:cNvPicPr>
            <a:picLocks noChangeAspect="1"/>
          </p:cNvPicPr>
          <p:nvPr/>
        </p:nvPicPr>
        <p:blipFill>
          <a:blip r:embed="rId4"/>
          <a:stretch>
            <a:fillRect/>
          </a:stretch>
        </p:blipFill>
        <p:spPr>
          <a:xfrm>
            <a:off x="6848856" y="3881628"/>
            <a:ext cx="292608" cy="292608"/>
          </a:xfrm>
          <a:prstGeom prst="rect">
            <a:avLst/>
          </a:prstGeom>
        </p:spPr>
      </p:pic>
      <p:sp>
        <p:nvSpPr>
          <p:cNvPr id="42" name="Text 36"/>
          <p:cNvSpPr/>
          <p:nvPr/>
        </p:nvSpPr>
        <p:spPr>
          <a:xfrm>
            <a:off x="7251192" y="3762756"/>
            <a:ext cx="3931920" cy="53035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Decision Agents</a:t>
            </a:r>
            <a:endParaRPr lang="en-US" sz="1150" dirty="0"/>
          </a:p>
        </p:txBody>
      </p:sp>
      <p:sp>
        <p:nvSpPr>
          <p:cNvPr id="43" name="Shape 37"/>
          <p:cNvSpPr/>
          <p:nvPr/>
        </p:nvSpPr>
        <p:spPr>
          <a:xfrm>
            <a:off x="8933688" y="4302252"/>
            <a:ext cx="146304" cy="150876"/>
          </a:xfrm>
          <a:prstGeom prst="downArrow">
            <a:avLst/>
          </a:prstGeom>
          <a:solidFill>
            <a:srgbClr val="5A7A9A"/>
          </a:solidFill>
          <a:ln/>
        </p:spPr>
      </p:sp>
      <p:sp>
        <p:nvSpPr>
          <p:cNvPr id="44" name="Shape 38"/>
          <p:cNvSpPr/>
          <p:nvPr/>
        </p:nvSpPr>
        <p:spPr>
          <a:xfrm>
            <a:off x="6720840" y="4462272"/>
            <a:ext cx="4572000" cy="530352"/>
          </a:xfrm>
          <a:prstGeom prst="roundRect">
            <a:avLst>
              <a:gd name="adj" fmla="val 12069"/>
            </a:avLst>
          </a:prstGeom>
          <a:solidFill>
            <a:srgbClr val="1C3559"/>
          </a:solidFill>
          <a:ln w="12700">
            <a:solidFill>
              <a:srgbClr val="5A7A9A"/>
            </a:solidFill>
            <a:prstDash val="solid"/>
          </a:ln>
        </p:spPr>
      </p:sp>
      <p:pic>
        <p:nvPicPr>
          <p:cNvPr id="45" name="Image 4" descr="/home/claude/icons/comm_white.png">    </p:cNvPr>
          <p:cNvPicPr>
            <a:picLocks noChangeAspect="1"/>
          </p:cNvPicPr>
          <p:nvPr/>
        </p:nvPicPr>
        <p:blipFill>
          <a:blip r:embed="rId5"/>
          <a:stretch>
            <a:fillRect/>
          </a:stretch>
        </p:blipFill>
        <p:spPr>
          <a:xfrm>
            <a:off x="6848856" y="4581144"/>
            <a:ext cx="292608" cy="292608"/>
          </a:xfrm>
          <a:prstGeom prst="rect">
            <a:avLst/>
          </a:prstGeom>
        </p:spPr>
      </p:pic>
      <p:sp>
        <p:nvSpPr>
          <p:cNvPr id="46" name="Text 39"/>
          <p:cNvSpPr/>
          <p:nvPr/>
        </p:nvSpPr>
        <p:spPr>
          <a:xfrm>
            <a:off x="7251192" y="4462272"/>
            <a:ext cx="3931920" cy="53035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Communication Agents</a:t>
            </a:r>
            <a:endParaRPr lang="en-US" sz="1150" dirty="0"/>
          </a:p>
        </p:txBody>
      </p:sp>
      <p:sp>
        <p:nvSpPr>
          <p:cNvPr id="47" name="Shape 40"/>
          <p:cNvSpPr/>
          <p:nvPr/>
        </p:nvSpPr>
        <p:spPr>
          <a:xfrm>
            <a:off x="8933688" y="5001768"/>
            <a:ext cx="146304" cy="150876"/>
          </a:xfrm>
          <a:prstGeom prst="downArrow">
            <a:avLst/>
          </a:prstGeom>
          <a:solidFill>
            <a:srgbClr val="5A7A9A"/>
          </a:solidFill>
          <a:ln/>
        </p:spPr>
      </p:sp>
      <p:sp>
        <p:nvSpPr>
          <p:cNvPr id="48" name="Shape 41"/>
          <p:cNvSpPr/>
          <p:nvPr/>
        </p:nvSpPr>
        <p:spPr>
          <a:xfrm>
            <a:off x="6720840" y="5161788"/>
            <a:ext cx="4572000" cy="530352"/>
          </a:xfrm>
          <a:prstGeom prst="roundRect">
            <a:avLst>
              <a:gd name="adj" fmla="val 12069"/>
            </a:avLst>
          </a:prstGeom>
          <a:solidFill>
            <a:srgbClr val="E4572E"/>
          </a:solidFill>
          <a:ln w="12700">
            <a:solidFill>
              <a:srgbClr val="E4572E"/>
            </a:solidFill>
            <a:prstDash val="solid"/>
          </a:ln>
        </p:spPr>
      </p:sp>
      <p:pic>
        <p:nvPicPr>
          <p:cNvPr id="49" name="Image 5" descr="/home/claude/icons/alert_white.png">    </p:cNvPr>
          <p:cNvPicPr>
            <a:picLocks noChangeAspect="1"/>
          </p:cNvPicPr>
          <p:nvPr/>
        </p:nvPicPr>
        <p:blipFill>
          <a:blip r:embed="rId6"/>
          <a:stretch>
            <a:fillRect/>
          </a:stretch>
        </p:blipFill>
        <p:spPr>
          <a:xfrm>
            <a:off x="6848856" y="5280660"/>
            <a:ext cx="292608" cy="292608"/>
          </a:xfrm>
          <a:prstGeom prst="rect">
            <a:avLst/>
          </a:prstGeom>
        </p:spPr>
      </p:pic>
      <p:sp>
        <p:nvSpPr>
          <p:cNvPr id="50" name="Text 42"/>
          <p:cNvSpPr/>
          <p:nvPr/>
        </p:nvSpPr>
        <p:spPr>
          <a:xfrm>
            <a:off x="7251192" y="5161788"/>
            <a:ext cx="3931920" cy="53035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Emergency Services / Public Alerts</a:t>
            </a:r>
            <a:endParaRPr lang="en-US" sz="1150" dirty="0"/>
          </a:p>
        </p:txBody>
      </p:sp>
      <p:sp>
        <p:nvSpPr>
          <p:cNvPr id="51" name="Text 43"/>
          <p:cNvSpPr/>
          <p:nvPr/>
        </p:nvSpPr>
        <p:spPr>
          <a:xfrm>
            <a:off x="457200" y="6537960"/>
            <a:ext cx="7315200" cy="274320"/>
          </a:xfrm>
          <a:prstGeom prst="rect">
            <a:avLst/>
          </a:prstGeom>
          <a:noFill/>
          <a:ln/>
        </p:spPr>
        <p:txBody>
          <a:bodyPr wrap="square" lIns="0" tIns="0" rIns="0" bIns="0" rtlCol="0" anchor="ctr"/>
          <a:lstStyle/>
          <a:p>
            <a:pPr indent="0" marL="0">
              <a:buNone/>
            </a:pPr>
            <a:r>
              <a:rPr lang="en-US" sz="900" i="1" dirty="0">
                <a:solidFill>
                  <a:srgbClr val="5B6B84"/>
                </a:solidFill>
                <a:latin typeface="Calibri" pitchFamily="34" charset="0"/>
                <a:ea typeface="Calibri" pitchFamily="34" charset="-122"/>
                <a:cs typeface="Calibri" pitchFamily="34" charset="-120"/>
              </a:rPr>
              <a:t>Multi-Agent System for Disaster Management</a:t>
            </a:r>
            <a:endParaRPr lang="en-US" sz="900" dirty="0"/>
          </a:p>
        </p:txBody>
      </p:sp>
      <p:sp>
        <p:nvSpPr>
          <p:cNvPr id="52" name="Text 44"/>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8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2500" b="1" dirty="0">
                <a:solidFill>
                  <a:srgbClr val="16233A"/>
                </a:solidFill>
                <a:latin typeface="Cambria" pitchFamily="34" charset="0"/>
                <a:ea typeface="Cambria" pitchFamily="34" charset="-122"/>
                <a:cs typeface="Cambria" pitchFamily="34" charset="-120"/>
              </a:rPr>
              <a:t>Agent Coordination and Real-Time Decision Making</a:t>
            </a:r>
            <a:endParaRPr lang="en-US" sz="2500" dirty="0"/>
          </a:p>
        </p:txBody>
      </p:sp>
      <p:sp>
        <p:nvSpPr>
          <p:cNvPr id="3" name="Shape 1"/>
          <p:cNvSpPr/>
          <p:nvPr/>
        </p:nvSpPr>
        <p:spPr>
          <a:xfrm>
            <a:off x="475488" y="914400"/>
            <a:ext cx="457200" cy="36576"/>
          </a:xfrm>
          <a:prstGeom prst="rect">
            <a:avLst/>
          </a:prstGeom>
          <a:solidFill>
            <a:srgbClr val="E4572E"/>
          </a:solidFill>
          <a:ln/>
        </p:spPr>
      </p:sp>
      <p:sp>
        <p:nvSpPr>
          <p:cNvPr id="4" name="Shape 2"/>
          <p:cNvSpPr/>
          <p:nvPr/>
        </p:nvSpPr>
        <p:spPr>
          <a:xfrm>
            <a:off x="457200" y="1170432"/>
            <a:ext cx="3675888" cy="2788920"/>
          </a:xfrm>
          <a:prstGeom prst="roundRect">
            <a:avLst>
              <a:gd name="adj" fmla="val 2951"/>
            </a:avLst>
          </a:prstGeom>
          <a:solidFill>
            <a:srgbClr val="FFFFFF"/>
          </a:solidFill>
          <a:ln w="12700">
            <a:solidFill>
              <a:srgbClr val="DDE3EC"/>
            </a:solidFill>
            <a:prstDash val="solid"/>
          </a:ln>
          <a:effectLst>
            <a:outerShdw sx="100000" sy="100000" kx="0" ky="0" algn="bl" rotWithShape="0" blurRad="63500" dist="25400" dir="5400000">
              <a:srgbClr val="1B2A4A">
                <a:alpha val="10000"/>
              </a:srgbClr>
            </a:outerShdw>
          </a:effectLst>
        </p:spPr>
      </p:sp>
      <p:sp>
        <p:nvSpPr>
          <p:cNvPr id="5" name="Shape 3"/>
          <p:cNvSpPr/>
          <p:nvPr/>
        </p:nvSpPr>
        <p:spPr>
          <a:xfrm>
            <a:off x="640080" y="1371600"/>
            <a:ext cx="457200" cy="457200"/>
          </a:xfrm>
          <a:prstGeom prst="ellipse">
            <a:avLst/>
          </a:prstGeom>
          <a:solidFill>
            <a:srgbClr val="13223D"/>
          </a:solidFill>
          <a:ln/>
        </p:spPr>
      </p:sp>
      <p:pic>
        <p:nvPicPr>
          <p:cNvPr id="6" name="Image 0" descr="/home/claude/icons/comm_orange.png">    </p:cNvPr>
          <p:cNvPicPr>
            <a:picLocks noChangeAspect="1"/>
          </p:cNvPicPr>
          <p:nvPr/>
        </p:nvPicPr>
        <p:blipFill>
          <a:blip r:embed="rId1"/>
          <a:stretch>
            <a:fillRect/>
          </a:stretch>
        </p:blipFill>
        <p:spPr>
          <a:xfrm>
            <a:off x="758952" y="1490472"/>
            <a:ext cx="219456" cy="219456"/>
          </a:xfrm>
          <a:prstGeom prst="rect">
            <a:avLst/>
          </a:prstGeom>
        </p:spPr>
      </p:pic>
      <p:sp>
        <p:nvSpPr>
          <p:cNvPr id="7" name="Text 4"/>
          <p:cNvSpPr/>
          <p:nvPr/>
        </p:nvSpPr>
        <p:spPr>
          <a:xfrm>
            <a:off x="1188720" y="1371600"/>
            <a:ext cx="2761488" cy="457200"/>
          </a:xfrm>
          <a:prstGeom prst="rect">
            <a:avLst/>
          </a:prstGeom>
          <a:noFill/>
          <a:ln/>
        </p:spPr>
        <p:txBody>
          <a:bodyPr wrap="square" lIns="0" tIns="0" rIns="0" bIns="0" rtlCol="0" anchor="ctr"/>
          <a:lstStyle/>
          <a:p>
            <a:pPr indent="0" marL="0">
              <a:buNone/>
            </a:pPr>
            <a:r>
              <a:rPr lang="en-US" sz="1400" b="1" dirty="0">
                <a:solidFill>
                  <a:srgbClr val="16233A"/>
                </a:solidFill>
                <a:latin typeface="Calibri" pitchFamily="34" charset="0"/>
                <a:ea typeface="Calibri" pitchFamily="34" charset="-122"/>
                <a:cs typeface="Calibri" pitchFamily="34" charset="-120"/>
              </a:rPr>
              <a:t>Coordination</a:t>
            </a:r>
            <a:endParaRPr lang="en-US" sz="1400" dirty="0"/>
          </a:p>
        </p:txBody>
      </p:sp>
      <p:sp>
        <p:nvSpPr>
          <p:cNvPr id="8" name="Text 5"/>
          <p:cNvSpPr/>
          <p:nvPr/>
        </p:nvSpPr>
        <p:spPr>
          <a:xfrm>
            <a:off x="640080" y="2039112"/>
            <a:ext cx="3310128" cy="1783080"/>
          </a:xfrm>
          <a:prstGeom prst="rect">
            <a:avLst/>
          </a:prstGeom>
          <a:noFill/>
          <a:ln/>
        </p:spPr>
        <p:txBody>
          <a:bodyPr wrap="square" lIns="0" tIns="0" rIns="0" bIns="0" rtlCol="0" anchor="t"/>
          <a:lstStyle/>
          <a:p>
            <a:pPr marL="127000" indent="-127000">
              <a:spcAft>
                <a:spcPts val="1400"/>
              </a:spcAft>
              <a:buSzPct val="100000"/>
              <a:buChar char="•"/>
            </a:pPr>
            <a:r>
              <a:rPr lang="en-US" sz="1100" dirty="0">
                <a:solidFill>
                  <a:srgbClr val="16233A"/>
                </a:solidFill>
                <a:latin typeface="Calibri" pitchFamily="34" charset="0"/>
                <a:ea typeface="Calibri" pitchFamily="34" charset="-122"/>
                <a:cs typeface="Calibri" pitchFamily="34" charset="-120"/>
              </a:rPr>
              <a:t>Agents communicate through message exchange.</a:t>
            </a:r>
            <a:endParaRPr lang="en-US" sz="1100" dirty="0"/>
          </a:p>
          <a:p>
            <a:pPr marL="127000" indent="-127000">
              <a:spcAft>
                <a:spcPts val="1400"/>
              </a:spcAft>
              <a:buSzPct val="100000"/>
              <a:buChar char="•"/>
            </a:pPr>
            <a:r>
              <a:rPr lang="en-US" sz="1100" dirty="0">
                <a:solidFill>
                  <a:srgbClr val="16233A"/>
                </a:solidFill>
                <a:latin typeface="Calibri" pitchFamily="34" charset="0"/>
                <a:ea typeface="Calibri" pitchFamily="34" charset="-122"/>
                <a:cs typeface="Calibri" pitchFamily="34" charset="-120"/>
              </a:rPr>
              <a:t>Each agent shares observations with others.</a:t>
            </a:r>
            <a:endParaRPr lang="en-US" sz="1100" dirty="0"/>
          </a:p>
          <a:p>
            <a:pPr marL="127000" indent="-127000">
              <a:spcAft>
                <a:spcPts val="1400"/>
              </a:spcAft>
              <a:buSzPct val="100000"/>
              <a:buChar char="•"/>
            </a:pPr>
            <a:r>
              <a:rPr lang="en-US" sz="1100" dirty="0">
                <a:solidFill>
                  <a:srgbClr val="16233A"/>
                </a:solidFill>
                <a:latin typeface="Calibri" pitchFamily="34" charset="0"/>
                <a:ea typeface="Calibri" pitchFamily="34" charset="-122"/>
                <a:cs typeface="Calibri" pitchFamily="34" charset="-120"/>
              </a:rPr>
              <a:t>Decision agents combine multi-source information.</a:t>
            </a:r>
            <a:endParaRPr lang="en-US" sz="1100" dirty="0"/>
          </a:p>
          <a:p>
            <a:pPr marL="127000" indent="-127000">
              <a:spcAft>
                <a:spcPts val="1400"/>
              </a:spcAft>
              <a:buSzPct val="100000"/>
              <a:buChar char="•"/>
            </a:pPr>
            <a:r>
              <a:rPr lang="en-US" sz="1100" dirty="0">
                <a:solidFill>
                  <a:srgbClr val="16233A"/>
                </a:solidFill>
                <a:latin typeface="Calibri" pitchFamily="34" charset="0"/>
                <a:ea typeface="Calibri" pitchFamily="34" charset="-122"/>
                <a:cs typeface="Calibri" pitchFamily="34" charset="-120"/>
              </a:rPr>
              <a:t>Communication agents distribute verified alerts.</a:t>
            </a:r>
            <a:endParaRPr lang="en-US" sz="1100" dirty="0"/>
          </a:p>
        </p:txBody>
      </p:sp>
      <p:sp>
        <p:nvSpPr>
          <p:cNvPr id="9" name="Shape 6"/>
          <p:cNvSpPr/>
          <p:nvPr/>
        </p:nvSpPr>
        <p:spPr>
          <a:xfrm>
            <a:off x="4251960" y="1170432"/>
            <a:ext cx="3675888" cy="2788920"/>
          </a:xfrm>
          <a:prstGeom prst="roundRect">
            <a:avLst>
              <a:gd name="adj" fmla="val 2951"/>
            </a:avLst>
          </a:prstGeom>
          <a:solidFill>
            <a:srgbClr val="FFFFFF"/>
          </a:solidFill>
          <a:ln w="12700">
            <a:solidFill>
              <a:srgbClr val="DDE3EC"/>
            </a:solidFill>
            <a:prstDash val="solid"/>
          </a:ln>
          <a:effectLst>
            <a:outerShdw sx="100000" sy="100000" kx="0" ky="0" algn="bl" rotWithShape="0" blurRad="63500" dist="25400" dir="5400000">
              <a:srgbClr val="1B2A4A">
                <a:alpha val="10000"/>
              </a:srgbClr>
            </a:outerShdw>
          </a:effectLst>
        </p:spPr>
      </p:sp>
      <p:sp>
        <p:nvSpPr>
          <p:cNvPr id="10" name="Shape 7"/>
          <p:cNvSpPr/>
          <p:nvPr/>
        </p:nvSpPr>
        <p:spPr>
          <a:xfrm>
            <a:off x="4434840" y="1371600"/>
            <a:ext cx="457200" cy="457200"/>
          </a:xfrm>
          <a:prstGeom prst="ellipse">
            <a:avLst/>
          </a:prstGeom>
          <a:solidFill>
            <a:srgbClr val="13223D"/>
          </a:solidFill>
          <a:ln/>
        </p:spPr>
      </p:sp>
      <p:pic>
        <p:nvPicPr>
          <p:cNvPr id="11" name="Image 1" descr="/home/claude/icons/server_orange.png">    </p:cNvPr>
          <p:cNvPicPr>
            <a:picLocks noChangeAspect="1"/>
          </p:cNvPicPr>
          <p:nvPr/>
        </p:nvPicPr>
        <p:blipFill>
          <a:blip r:embed="rId2"/>
          <a:stretch>
            <a:fillRect/>
          </a:stretch>
        </p:blipFill>
        <p:spPr>
          <a:xfrm>
            <a:off x="4553712" y="1490472"/>
            <a:ext cx="219456" cy="219456"/>
          </a:xfrm>
          <a:prstGeom prst="rect">
            <a:avLst/>
          </a:prstGeom>
        </p:spPr>
      </p:pic>
      <p:sp>
        <p:nvSpPr>
          <p:cNvPr id="12" name="Text 8"/>
          <p:cNvSpPr/>
          <p:nvPr/>
        </p:nvSpPr>
        <p:spPr>
          <a:xfrm>
            <a:off x="4983480" y="1371600"/>
            <a:ext cx="2761488" cy="457200"/>
          </a:xfrm>
          <a:prstGeom prst="rect">
            <a:avLst/>
          </a:prstGeom>
          <a:noFill/>
          <a:ln/>
        </p:spPr>
        <p:txBody>
          <a:bodyPr wrap="square" lIns="0" tIns="0" rIns="0" bIns="0" rtlCol="0" anchor="ctr"/>
          <a:lstStyle/>
          <a:p>
            <a:pPr indent="0" marL="0">
              <a:buNone/>
            </a:pPr>
            <a:r>
              <a:rPr lang="en-US" sz="1400" b="1" dirty="0">
                <a:solidFill>
                  <a:srgbClr val="16233A"/>
                </a:solidFill>
                <a:latin typeface="Calibri" pitchFamily="34" charset="0"/>
                <a:ea typeface="Calibri" pitchFamily="34" charset="-122"/>
                <a:cs typeface="Calibri" pitchFamily="34" charset="-120"/>
              </a:rPr>
              <a:t>Data Sharing</a:t>
            </a:r>
            <a:endParaRPr lang="en-US" sz="1400" dirty="0"/>
          </a:p>
        </p:txBody>
      </p:sp>
      <p:sp>
        <p:nvSpPr>
          <p:cNvPr id="13" name="Text 9"/>
          <p:cNvSpPr/>
          <p:nvPr/>
        </p:nvSpPr>
        <p:spPr>
          <a:xfrm>
            <a:off x="4434840" y="2039112"/>
            <a:ext cx="3310128" cy="1783080"/>
          </a:xfrm>
          <a:prstGeom prst="rect">
            <a:avLst/>
          </a:prstGeom>
          <a:noFill/>
          <a:ln/>
        </p:spPr>
        <p:txBody>
          <a:bodyPr wrap="square" lIns="0" tIns="0" rIns="0" bIns="0" rtlCol="0" anchor="t"/>
          <a:lstStyle/>
          <a:p>
            <a:pPr marL="127000" indent="-127000">
              <a:spcAft>
                <a:spcPts val="1400"/>
              </a:spcAft>
              <a:buSzPct val="100000"/>
              <a:buChar char="•"/>
            </a:pPr>
            <a:r>
              <a:rPr lang="en-US" sz="1100" dirty="0">
                <a:solidFill>
                  <a:srgbClr val="16233A"/>
                </a:solidFill>
                <a:latin typeface="Calibri" pitchFamily="34" charset="0"/>
                <a:ea typeface="Calibri" pitchFamily="34" charset="-122"/>
                <a:cs typeface="Calibri" pitchFamily="34" charset="-120"/>
              </a:rPr>
              <a:t>Sensor data is continuously collected and processed.</a:t>
            </a:r>
            <a:endParaRPr lang="en-US" sz="1100" dirty="0"/>
          </a:p>
          <a:p>
            <a:pPr marL="127000" indent="-127000">
              <a:spcAft>
                <a:spcPts val="1400"/>
              </a:spcAft>
              <a:buSzPct val="100000"/>
              <a:buChar char="•"/>
            </a:pPr>
            <a:r>
              <a:rPr lang="en-US" sz="1100" dirty="0">
                <a:solidFill>
                  <a:srgbClr val="16233A"/>
                </a:solidFill>
                <a:latin typeface="Calibri" pitchFamily="34" charset="0"/>
                <a:ea typeface="Calibri" pitchFamily="34" charset="-122"/>
                <a:cs typeface="Calibri" pitchFamily="34" charset="-120"/>
              </a:rPr>
              <a:t>Shared information improves situational awareness.</a:t>
            </a:r>
            <a:endParaRPr lang="en-US" sz="1100" dirty="0"/>
          </a:p>
          <a:p>
            <a:pPr marL="127000" indent="-127000">
              <a:spcAft>
                <a:spcPts val="1400"/>
              </a:spcAft>
              <a:buSzPct val="100000"/>
              <a:buChar char="•"/>
            </a:pPr>
            <a:r>
              <a:rPr lang="en-US" sz="1100" dirty="0">
                <a:solidFill>
                  <a:srgbClr val="16233A"/>
                </a:solidFill>
                <a:latin typeface="Calibri" pitchFamily="34" charset="0"/>
                <a:ea typeface="Calibri" pitchFamily="34" charset="-122"/>
                <a:cs typeface="Calibri" pitchFamily="34" charset="-120"/>
              </a:rPr>
              <a:t>Distributed processing handles large-scale streaming data.</a:t>
            </a:r>
            <a:endParaRPr lang="en-US" sz="1100" dirty="0"/>
          </a:p>
        </p:txBody>
      </p:sp>
      <p:sp>
        <p:nvSpPr>
          <p:cNvPr id="14" name="Shape 10"/>
          <p:cNvSpPr/>
          <p:nvPr/>
        </p:nvSpPr>
        <p:spPr>
          <a:xfrm>
            <a:off x="8046720" y="1170432"/>
            <a:ext cx="3675888" cy="2788920"/>
          </a:xfrm>
          <a:prstGeom prst="roundRect">
            <a:avLst>
              <a:gd name="adj" fmla="val 2951"/>
            </a:avLst>
          </a:prstGeom>
          <a:solidFill>
            <a:srgbClr val="FFFFFF"/>
          </a:solidFill>
          <a:ln w="12700">
            <a:solidFill>
              <a:srgbClr val="DDE3EC"/>
            </a:solidFill>
            <a:prstDash val="solid"/>
          </a:ln>
          <a:effectLst>
            <a:outerShdw sx="100000" sy="100000" kx="0" ky="0" algn="bl" rotWithShape="0" blurRad="63500" dist="25400" dir="5400000">
              <a:srgbClr val="1B2A4A">
                <a:alpha val="10000"/>
              </a:srgbClr>
            </a:outerShdw>
          </a:effectLst>
        </p:spPr>
      </p:sp>
      <p:sp>
        <p:nvSpPr>
          <p:cNvPr id="15" name="Shape 11"/>
          <p:cNvSpPr/>
          <p:nvPr/>
        </p:nvSpPr>
        <p:spPr>
          <a:xfrm>
            <a:off x="8229600" y="1371600"/>
            <a:ext cx="457200" cy="457200"/>
          </a:xfrm>
          <a:prstGeom prst="ellipse">
            <a:avLst/>
          </a:prstGeom>
          <a:solidFill>
            <a:srgbClr val="13223D"/>
          </a:solidFill>
          <a:ln/>
        </p:spPr>
      </p:sp>
      <p:pic>
        <p:nvPicPr>
          <p:cNvPr id="16" name="Image 2" descr="/home/claude/icons/bolt_orange.png">    </p:cNvPr>
          <p:cNvPicPr>
            <a:picLocks noChangeAspect="1"/>
          </p:cNvPicPr>
          <p:nvPr/>
        </p:nvPicPr>
        <p:blipFill>
          <a:blip r:embed="rId3"/>
          <a:stretch>
            <a:fillRect/>
          </a:stretch>
        </p:blipFill>
        <p:spPr>
          <a:xfrm>
            <a:off x="8348472" y="1490472"/>
            <a:ext cx="219456" cy="219456"/>
          </a:xfrm>
          <a:prstGeom prst="rect">
            <a:avLst/>
          </a:prstGeom>
        </p:spPr>
      </p:pic>
      <p:sp>
        <p:nvSpPr>
          <p:cNvPr id="17" name="Text 12"/>
          <p:cNvSpPr/>
          <p:nvPr/>
        </p:nvSpPr>
        <p:spPr>
          <a:xfrm>
            <a:off x="8778240" y="1371600"/>
            <a:ext cx="2761488" cy="457200"/>
          </a:xfrm>
          <a:prstGeom prst="rect">
            <a:avLst/>
          </a:prstGeom>
          <a:noFill/>
          <a:ln/>
        </p:spPr>
        <p:txBody>
          <a:bodyPr wrap="square" lIns="0" tIns="0" rIns="0" bIns="0" rtlCol="0" anchor="ctr"/>
          <a:lstStyle/>
          <a:p>
            <a:pPr indent="0" marL="0">
              <a:buNone/>
            </a:pPr>
            <a:r>
              <a:rPr lang="en-US" sz="1400" b="1" dirty="0">
                <a:solidFill>
                  <a:srgbClr val="16233A"/>
                </a:solidFill>
                <a:latin typeface="Calibri" pitchFamily="34" charset="0"/>
                <a:ea typeface="Calibri" pitchFamily="34" charset="-122"/>
                <a:cs typeface="Calibri" pitchFamily="34" charset="-120"/>
              </a:rPr>
              <a:t>Real-Time Decision Making</a:t>
            </a:r>
            <a:endParaRPr lang="en-US" sz="1400" dirty="0"/>
          </a:p>
        </p:txBody>
      </p:sp>
      <p:sp>
        <p:nvSpPr>
          <p:cNvPr id="18" name="Text 13"/>
          <p:cNvSpPr/>
          <p:nvPr/>
        </p:nvSpPr>
        <p:spPr>
          <a:xfrm>
            <a:off x="8229600" y="2039112"/>
            <a:ext cx="3310128" cy="1783080"/>
          </a:xfrm>
          <a:prstGeom prst="rect">
            <a:avLst/>
          </a:prstGeom>
          <a:noFill/>
          <a:ln/>
        </p:spPr>
        <p:txBody>
          <a:bodyPr wrap="square" lIns="0" tIns="0" rIns="0" bIns="0" rtlCol="0" anchor="t"/>
          <a:lstStyle/>
          <a:p>
            <a:pPr marL="127000" indent="-127000">
              <a:spcAft>
                <a:spcPts val="1400"/>
              </a:spcAft>
              <a:buSzPct val="100000"/>
              <a:buChar char="•"/>
            </a:pPr>
            <a:r>
              <a:rPr lang="en-US" sz="1100" dirty="0">
                <a:solidFill>
                  <a:srgbClr val="16233A"/>
                </a:solidFill>
                <a:latin typeface="Calibri" pitchFamily="34" charset="0"/>
                <a:ea typeface="Calibri" pitchFamily="34" charset="-122"/>
                <a:cs typeface="Calibri" pitchFamily="34" charset="-120"/>
              </a:rPr>
              <a:t>Detect abnormal conditions quickly.</a:t>
            </a:r>
            <a:endParaRPr lang="en-US" sz="1100" dirty="0"/>
          </a:p>
          <a:p>
            <a:pPr marL="127000" indent="-127000">
              <a:spcAft>
                <a:spcPts val="1400"/>
              </a:spcAft>
              <a:buSzPct val="100000"/>
              <a:buChar char="•"/>
            </a:pPr>
            <a:r>
              <a:rPr lang="en-US" sz="1100" dirty="0">
                <a:solidFill>
                  <a:srgbClr val="16233A"/>
                </a:solidFill>
                <a:latin typeface="Calibri" pitchFamily="34" charset="0"/>
                <a:ea typeface="Calibri" pitchFamily="34" charset="-122"/>
                <a:cs typeface="Calibri" pitchFamily="34" charset="-120"/>
              </a:rPr>
              <a:t>Estimate disaster severity and priority.</a:t>
            </a:r>
            <a:endParaRPr lang="en-US" sz="1100" dirty="0"/>
          </a:p>
          <a:p>
            <a:pPr marL="127000" indent="-127000">
              <a:spcAft>
                <a:spcPts val="1400"/>
              </a:spcAft>
              <a:buSzPct val="100000"/>
              <a:buChar char="•"/>
            </a:pPr>
            <a:r>
              <a:rPr lang="en-US" sz="1100" dirty="0">
                <a:solidFill>
                  <a:srgbClr val="16233A"/>
                </a:solidFill>
                <a:latin typeface="Calibri" pitchFamily="34" charset="0"/>
                <a:ea typeface="Calibri" pitchFamily="34" charset="-122"/>
                <a:cs typeface="Calibri" pitchFamily="34" charset="-120"/>
              </a:rPr>
              <a:t>Trigger appropriate emergency responses.</a:t>
            </a:r>
            <a:endParaRPr lang="en-US" sz="1100" dirty="0"/>
          </a:p>
          <a:p>
            <a:pPr marL="127000" indent="-127000">
              <a:spcAft>
                <a:spcPts val="1400"/>
              </a:spcAft>
              <a:buSzPct val="100000"/>
              <a:buChar char="•"/>
            </a:pPr>
            <a:r>
              <a:rPr lang="en-US" sz="1100" dirty="0">
                <a:solidFill>
                  <a:srgbClr val="16233A"/>
                </a:solidFill>
                <a:latin typeface="Calibri" pitchFamily="34" charset="0"/>
                <a:ea typeface="Calibri" pitchFamily="34" charset="-122"/>
                <a:cs typeface="Calibri" pitchFamily="34" charset="-120"/>
              </a:rPr>
              <a:t>Continuously update decisions as data arrives.</a:t>
            </a:r>
            <a:endParaRPr lang="en-US" sz="1100" dirty="0"/>
          </a:p>
        </p:txBody>
      </p:sp>
      <p:sp>
        <p:nvSpPr>
          <p:cNvPr id="19" name="Shape 14"/>
          <p:cNvSpPr/>
          <p:nvPr/>
        </p:nvSpPr>
        <p:spPr>
          <a:xfrm>
            <a:off x="457200" y="4160520"/>
            <a:ext cx="11247120" cy="1828800"/>
          </a:xfrm>
          <a:prstGeom prst="roundRect">
            <a:avLst>
              <a:gd name="adj" fmla="val 4500"/>
            </a:avLst>
          </a:prstGeom>
          <a:solidFill>
            <a:srgbClr val="13223D"/>
          </a:solidFill>
          <a:ln/>
        </p:spPr>
      </p:sp>
      <p:sp>
        <p:nvSpPr>
          <p:cNvPr id="20" name="Shape 15"/>
          <p:cNvSpPr/>
          <p:nvPr/>
        </p:nvSpPr>
        <p:spPr>
          <a:xfrm>
            <a:off x="685800" y="4434840"/>
            <a:ext cx="502920" cy="502920"/>
          </a:xfrm>
          <a:prstGeom prst="ellipse">
            <a:avLst/>
          </a:prstGeom>
          <a:solidFill>
            <a:srgbClr val="1C3559"/>
          </a:solidFill>
          <a:ln/>
        </p:spPr>
      </p:sp>
      <p:pic>
        <p:nvPicPr>
          <p:cNvPr id="21" name="Image 3" descr="/home/claude/icons/water_orange.png">    </p:cNvPr>
          <p:cNvPicPr>
            <a:picLocks noChangeAspect="1"/>
          </p:cNvPicPr>
          <p:nvPr/>
        </p:nvPicPr>
        <p:blipFill>
          <a:blip r:embed="rId4"/>
          <a:stretch>
            <a:fillRect/>
          </a:stretch>
        </p:blipFill>
        <p:spPr>
          <a:xfrm>
            <a:off x="816559" y="4565599"/>
            <a:ext cx="241402" cy="241402"/>
          </a:xfrm>
          <a:prstGeom prst="rect">
            <a:avLst/>
          </a:prstGeom>
        </p:spPr>
      </p:pic>
      <p:sp>
        <p:nvSpPr>
          <p:cNvPr id="22" name="Text 16"/>
          <p:cNvSpPr/>
          <p:nvPr/>
        </p:nvSpPr>
        <p:spPr>
          <a:xfrm>
            <a:off x="1325880" y="4407408"/>
            <a:ext cx="4572000" cy="274320"/>
          </a:xfrm>
          <a:prstGeom prst="rect">
            <a:avLst/>
          </a:prstGeom>
          <a:noFill/>
          <a:ln/>
        </p:spPr>
        <p:txBody>
          <a:bodyPr wrap="square" lIns="0" tIns="0" rIns="0" bIns="0" rtlCol="0" anchor="ctr"/>
          <a:lstStyle/>
          <a:p>
            <a:pPr indent="0" marL="0">
              <a:buNone/>
            </a:pPr>
            <a:r>
              <a:rPr lang="en-US" sz="1100" b="1" spc="120" kern="0" dirty="0">
                <a:solidFill>
                  <a:srgbClr val="5A7A9A"/>
                </a:solidFill>
                <a:latin typeface="Calibri" pitchFamily="34" charset="0"/>
                <a:ea typeface="Calibri" pitchFamily="34" charset="-122"/>
                <a:cs typeface="Calibri" pitchFamily="34" charset="-120"/>
              </a:rPr>
              <a:t>EXAMPLE — FLOOD SCENARIO</a:t>
            </a:r>
            <a:endParaRPr lang="en-US" sz="1100" dirty="0"/>
          </a:p>
        </p:txBody>
      </p:sp>
      <p:sp>
        <p:nvSpPr>
          <p:cNvPr id="23" name="Text 17"/>
          <p:cNvSpPr/>
          <p:nvPr/>
        </p:nvSpPr>
        <p:spPr>
          <a:xfrm>
            <a:off x="1325880" y="4736592"/>
            <a:ext cx="4709160" cy="1097280"/>
          </a:xfrm>
          <a:prstGeom prst="rect">
            <a:avLst/>
          </a:prstGeom>
          <a:noFill/>
          <a:ln/>
        </p:spPr>
        <p:txBody>
          <a:bodyPr wrap="square" lIns="0" tIns="0" rIns="0" bIns="0" rtlCol="0" anchor="t"/>
          <a:lstStyle/>
          <a:p>
            <a:pPr indent="0" marL="0">
              <a:lnSpc>
                <a:spcPct val="130000"/>
              </a:lnSpc>
              <a:buNone/>
            </a:pPr>
            <a:r>
              <a:rPr lang="en-US" sz="1150" dirty="0">
                <a:solidFill>
                  <a:srgbClr val="D9E4F1"/>
                </a:solidFill>
                <a:latin typeface="Calibri" pitchFamily="34" charset="0"/>
                <a:ea typeface="Calibri" pitchFamily="34" charset="-122"/>
                <a:cs typeface="Calibri" pitchFamily="34" charset="-120"/>
              </a:rPr>
              <a:t>During a flood, water-level sensors detect a rapid rise in water level. Sensor Agents send the readings to Decision Agents, which evaluate severity and communicate the result through Communication Agents — triggering emergency alerts and rescue action.</a:t>
            </a:r>
            <a:endParaRPr lang="en-US" sz="1150" dirty="0"/>
          </a:p>
        </p:txBody>
      </p:sp>
      <p:sp>
        <p:nvSpPr>
          <p:cNvPr id="24" name="Shape 18"/>
          <p:cNvSpPr/>
          <p:nvPr/>
        </p:nvSpPr>
        <p:spPr>
          <a:xfrm>
            <a:off x="6355080" y="4434840"/>
            <a:ext cx="932688" cy="1051560"/>
          </a:xfrm>
          <a:prstGeom prst="roundRect">
            <a:avLst>
              <a:gd name="adj" fmla="val 7843"/>
            </a:avLst>
          </a:prstGeom>
          <a:solidFill>
            <a:srgbClr val="1C3559"/>
          </a:solidFill>
          <a:ln w="12700">
            <a:solidFill>
              <a:srgbClr val="5A7A9A"/>
            </a:solidFill>
            <a:prstDash val="solid"/>
          </a:ln>
        </p:spPr>
      </p:sp>
      <p:pic>
        <p:nvPicPr>
          <p:cNvPr id="25" name="Image 4" descr="/home/claude/icons/water_white.png">    </p:cNvPr>
          <p:cNvPicPr>
            <a:picLocks noChangeAspect="1"/>
          </p:cNvPicPr>
          <p:nvPr/>
        </p:nvPicPr>
        <p:blipFill>
          <a:blip r:embed="rId5"/>
          <a:stretch>
            <a:fillRect/>
          </a:stretch>
        </p:blipFill>
        <p:spPr>
          <a:xfrm>
            <a:off x="6675120" y="4526280"/>
            <a:ext cx="292608" cy="292608"/>
          </a:xfrm>
          <a:prstGeom prst="rect">
            <a:avLst/>
          </a:prstGeom>
        </p:spPr>
      </p:pic>
      <p:sp>
        <p:nvSpPr>
          <p:cNvPr id="26" name="Text 19"/>
          <p:cNvSpPr/>
          <p:nvPr/>
        </p:nvSpPr>
        <p:spPr>
          <a:xfrm>
            <a:off x="6373368" y="4837176"/>
            <a:ext cx="896112" cy="411480"/>
          </a:xfrm>
          <a:prstGeom prst="rect">
            <a:avLst/>
          </a:prstGeom>
          <a:noFill/>
          <a:ln/>
        </p:spPr>
        <p:txBody>
          <a:bodyPr wrap="square" lIns="0" tIns="0" rIns="0" bIns="0" rtlCol="0" anchor="t"/>
          <a:lstStyle/>
          <a:p>
            <a:pPr algn="ctr" indent="0" marL="0">
              <a:lnSpc>
                <a:spcPct val="100000"/>
              </a:lnSpc>
              <a:buNone/>
            </a:pPr>
            <a:r>
              <a:rPr lang="en-US" sz="860" b="1" dirty="0">
                <a:solidFill>
                  <a:srgbClr val="FFFFFF"/>
                </a:solidFill>
                <a:latin typeface="Calibri" pitchFamily="34" charset="0"/>
                <a:ea typeface="Calibri" pitchFamily="34" charset="-122"/>
                <a:cs typeface="Calibri" pitchFamily="34" charset="-120"/>
              </a:rPr>
              <a:t>Flood</a:t>
            </a:r>
            <a:endParaRPr lang="en-US" sz="860" dirty="0"/>
          </a:p>
          <a:p>
            <a:pPr algn="ctr" indent="0" marL="0">
              <a:lnSpc>
                <a:spcPct val="100000"/>
              </a:lnSpc>
              <a:buNone/>
            </a:pPr>
            <a:r>
              <a:rPr lang="en-US" sz="860" b="1" dirty="0">
                <a:solidFill>
                  <a:srgbClr val="FFFFFF"/>
                </a:solidFill>
                <a:latin typeface="Calibri" pitchFamily="34" charset="0"/>
                <a:ea typeface="Calibri" pitchFamily="34" charset="-122"/>
                <a:cs typeface="Calibri" pitchFamily="34" charset="-120"/>
              </a:rPr>
              <a:t>Sensors</a:t>
            </a:r>
            <a:endParaRPr lang="en-US" sz="860" dirty="0"/>
          </a:p>
        </p:txBody>
      </p:sp>
      <p:sp>
        <p:nvSpPr>
          <p:cNvPr id="27" name="Shape 20"/>
          <p:cNvSpPr/>
          <p:nvPr/>
        </p:nvSpPr>
        <p:spPr>
          <a:xfrm>
            <a:off x="7299198" y="4887468"/>
            <a:ext cx="91440" cy="146304"/>
          </a:xfrm>
          <a:prstGeom prst="rightArrow">
            <a:avLst/>
          </a:prstGeom>
          <a:solidFill>
            <a:srgbClr val="5A7A9A"/>
          </a:solidFill>
          <a:ln/>
        </p:spPr>
      </p:sp>
      <p:sp>
        <p:nvSpPr>
          <p:cNvPr id="28" name="Shape 21"/>
          <p:cNvSpPr/>
          <p:nvPr/>
        </p:nvSpPr>
        <p:spPr>
          <a:xfrm>
            <a:off x="7402068" y="4434840"/>
            <a:ext cx="932688" cy="1051560"/>
          </a:xfrm>
          <a:prstGeom prst="roundRect">
            <a:avLst>
              <a:gd name="adj" fmla="val 7843"/>
            </a:avLst>
          </a:prstGeom>
          <a:solidFill>
            <a:srgbClr val="1C3559"/>
          </a:solidFill>
          <a:ln w="12700">
            <a:solidFill>
              <a:srgbClr val="5A7A9A"/>
            </a:solidFill>
            <a:prstDash val="solid"/>
          </a:ln>
        </p:spPr>
      </p:sp>
      <p:pic>
        <p:nvPicPr>
          <p:cNvPr id="29" name="Image 5" descr="/home/claude/icons/decision_white.png">    </p:cNvPr>
          <p:cNvPicPr>
            <a:picLocks noChangeAspect="1"/>
          </p:cNvPicPr>
          <p:nvPr/>
        </p:nvPicPr>
        <p:blipFill>
          <a:blip r:embed="rId6"/>
          <a:stretch>
            <a:fillRect/>
          </a:stretch>
        </p:blipFill>
        <p:spPr>
          <a:xfrm>
            <a:off x="7722108" y="4526280"/>
            <a:ext cx="292608" cy="292608"/>
          </a:xfrm>
          <a:prstGeom prst="rect">
            <a:avLst/>
          </a:prstGeom>
        </p:spPr>
      </p:pic>
      <p:sp>
        <p:nvSpPr>
          <p:cNvPr id="30" name="Text 22"/>
          <p:cNvSpPr/>
          <p:nvPr/>
        </p:nvSpPr>
        <p:spPr>
          <a:xfrm>
            <a:off x="7420356" y="4837176"/>
            <a:ext cx="896112" cy="411480"/>
          </a:xfrm>
          <a:prstGeom prst="rect">
            <a:avLst/>
          </a:prstGeom>
          <a:noFill/>
          <a:ln/>
        </p:spPr>
        <p:txBody>
          <a:bodyPr wrap="square" lIns="0" tIns="0" rIns="0" bIns="0" rtlCol="0" anchor="t"/>
          <a:lstStyle/>
          <a:p>
            <a:pPr algn="ctr" indent="0" marL="0">
              <a:lnSpc>
                <a:spcPct val="100000"/>
              </a:lnSpc>
              <a:buNone/>
            </a:pPr>
            <a:r>
              <a:rPr lang="en-US" sz="860" b="1" dirty="0">
                <a:solidFill>
                  <a:srgbClr val="FFFFFF"/>
                </a:solidFill>
                <a:latin typeface="Calibri" pitchFamily="34" charset="0"/>
                <a:ea typeface="Calibri" pitchFamily="34" charset="-122"/>
                <a:cs typeface="Calibri" pitchFamily="34" charset="-120"/>
              </a:rPr>
              <a:t>AI</a:t>
            </a:r>
            <a:endParaRPr lang="en-US" sz="860" dirty="0"/>
          </a:p>
          <a:p>
            <a:pPr algn="ctr" indent="0" marL="0">
              <a:lnSpc>
                <a:spcPct val="100000"/>
              </a:lnSpc>
              <a:buNone/>
            </a:pPr>
            <a:r>
              <a:rPr lang="en-US" sz="860" b="1" dirty="0">
                <a:solidFill>
                  <a:srgbClr val="FFFFFF"/>
                </a:solidFill>
                <a:latin typeface="Calibri" pitchFamily="34" charset="0"/>
                <a:ea typeface="Calibri" pitchFamily="34" charset="-122"/>
                <a:cs typeface="Calibri" pitchFamily="34" charset="-120"/>
              </a:rPr>
              <a:t>Agents</a:t>
            </a:r>
            <a:endParaRPr lang="en-US" sz="860" dirty="0"/>
          </a:p>
        </p:txBody>
      </p:sp>
      <p:sp>
        <p:nvSpPr>
          <p:cNvPr id="31" name="Shape 23"/>
          <p:cNvSpPr/>
          <p:nvPr/>
        </p:nvSpPr>
        <p:spPr>
          <a:xfrm>
            <a:off x="8346186" y="4887468"/>
            <a:ext cx="91440" cy="146304"/>
          </a:xfrm>
          <a:prstGeom prst="rightArrow">
            <a:avLst/>
          </a:prstGeom>
          <a:solidFill>
            <a:srgbClr val="5A7A9A"/>
          </a:solidFill>
          <a:ln/>
        </p:spPr>
      </p:sp>
      <p:sp>
        <p:nvSpPr>
          <p:cNvPr id="32" name="Shape 24"/>
          <p:cNvSpPr/>
          <p:nvPr/>
        </p:nvSpPr>
        <p:spPr>
          <a:xfrm>
            <a:off x="8449056" y="4434840"/>
            <a:ext cx="932688" cy="1051560"/>
          </a:xfrm>
          <a:prstGeom prst="roundRect">
            <a:avLst>
              <a:gd name="adj" fmla="val 7843"/>
            </a:avLst>
          </a:prstGeom>
          <a:solidFill>
            <a:srgbClr val="1C3559"/>
          </a:solidFill>
          <a:ln w="12700">
            <a:solidFill>
              <a:srgbClr val="5A7A9A"/>
            </a:solidFill>
            <a:prstDash val="solid"/>
          </a:ln>
        </p:spPr>
      </p:sp>
      <p:pic>
        <p:nvPicPr>
          <p:cNvPr id="33" name="Image 6" descr="/home/claude/icons/server_white.png">    </p:cNvPr>
          <p:cNvPicPr>
            <a:picLocks noChangeAspect="1"/>
          </p:cNvPicPr>
          <p:nvPr/>
        </p:nvPicPr>
        <p:blipFill>
          <a:blip r:embed="rId7"/>
          <a:stretch>
            <a:fillRect/>
          </a:stretch>
        </p:blipFill>
        <p:spPr>
          <a:xfrm>
            <a:off x="8769096" y="4526280"/>
            <a:ext cx="292608" cy="292608"/>
          </a:xfrm>
          <a:prstGeom prst="rect">
            <a:avLst/>
          </a:prstGeom>
        </p:spPr>
      </p:pic>
      <p:sp>
        <p:nvSpPr>
          <p:cNvPr id="34" name="Text 25"/>
          <p:cNvSpPr/>
          <p:nvPr/>
        </p:nvSpPr>
        <p:spPr>
          <a:xfrm>
            <a:off x="8467344" y="4837176"/>
            <a:ext cx="896112" cy="411480"/>
          </a:xfrm>
          <a:prstGeom prst="rect">
            <a:avLst/>
          </a:prstGeom>
          <a:noFill/>
          <a:ln/>
        </p:spPr>
        <p:txBody>
          <a:bodyPr wrap="square" lIns="0" tIns="0" rIns="0" bIns="0" rtlCol="0" anchor="t"/>
          <a:lstStyle/>
          <a:p>
            <a:pPr algn="ctr" indent="0" marL="0">
              <a:lnSpc>
                <a:spcPct val="100000"/>
              </a:lnSpc>
              <a:buNone/>
            </a:pPr>
            <a:r>
              <a:rPr lang="en-US" sz="860" b="1" dirty="0">
                <a:solidFill>
                  <a:srgbClr val="FFFFFF"/>
                </a:solidFill>
                <a:latin typeface="Calibri" pitchFamily="34" charset="0"/>
                <a:ea typeface="Calibri" pitchFamily="34" charset="-122"/>
                <a:cs typeface="Calibri" pitchFamily="34" charset="-120"/>
              </a:rPr>
              <a:t>Analysis</a:t>
            </a:r>
            <a:endParaRPr lang="en-US" sz="860" dirty="0"/>
          </a:p>
        </p:txBody>
      </p:sp>
      <p:sp>
        <p:nvSpPr>
          <p:cNvPr id="35" name="Shape 26"/>
          <p:cNvSpPr/>
          <p:nvPr/>
        </p:nvSpPr>
        <p:spPr>
          <a:xfrm>
            <a:off x="9393174" y="4887468"/>
            <a:ext cx="91440" cy="146304"/>
          </a:xfrm>
          <a:prstGeom prst="rightArrow">
            <a:avLst/>
          </a:prstGeom>
          <a:solidFill>
            <a:srgbClr val="5A7A9A"/>
          </a:solidFill>
          <a:ln/>
        </p:spPr>
      </p:sp>
      <p:sp>
        <p:nvSpPr>
          <p:cNvPr id="36" name="Shape 27"/>
          <p:cNvSpPr/>
          <p:nvPr/>
        </p:nvSpPr>
        <p:spPr>
          <a:xfrm>
            <a:off x="9496044" y="4434840"/>
            <a:ext cx="932688" cy="1051560"/>
          </a:xfrm>
          <a:prstGeom prst="roundRect">
            <a:avLst>
              <a:gd name="adj" fmla="val 7843"/>
            </a:avLst>
          </a:prstGeom>
          <a:solidFill>
            <a:srgbClr val="1C3559"/>
          </a:solidFill>
          <a:ln w="12700">
            <a:solidFill>
              <a:srgbClr val="5A7A9A"/>
            </a:solidFill>
            <a:prstDash val="solid"/>
          </a:ln>
        </p:spPr>
      </p:sp>
      <p:pic>
        <p:nvPicPr>
          <p:cNvPr id="37" name="Image 7" descr="/home/claude/icons/alert_white.png">    </p:cNvPr>
          <p:cNvPicPr>
            <a:picLocks noChangeAspect="1"/>
          </p:cNvPicPr>
          <p:nvPr/>
        </p:nvPicPr>
        <p:blipFill>
          <a:blip r:embed="rId8"/>
          <a:stretch>
            <a:fillRect/>
          </a:stretch>
        </p:blipFill>
        <p:spPr>
          <a:xfrm>
            <a:off x="9816084" y="4526280"/>
            <a:ext cx="292608" cy="292608"/>
          </a:xfrm>
          <a:prstGeom prst="rect">
            <a:avLst/>
          </a:prstGeom>
        </p:spPr>
      </p:pic>
      <p:sp>
        <p:nvSpPr>
          <p:cNvPr id="38" name="Text 28"/>
          <p:cNvSpPr/>
          <p:nvPr/>
        </p:nvSpPr>
        <p:spPr>
          <a:xfrm>
            <a:off x="9514332" y="4837176"/>
            <a:ext cx="896112" cy="411480"/>
          </a:xfrm>
          <a:prstGeom prst="rect">
            <a:avLst/>
          </a:prstGeom>
          <a:noFill/>
          <a:ln/>
        </p:spPr>
        <p:txBody>
          <a:bodyPr wrap="square" lIns="0" tIns="0" rIns="0" bIns="0" rtlCol="0" anchor="t"/>
          <a:lstStyle/>
          <a:p>
            <a:pPr algn="ctr" indent="0" marL="0">
              <a:lnSpc>
                <a:spcPct val="100000"/>
              </a:lnSpc>
              <a:buNone/>
            </a:pPr>
            <a:r>
              <a:rPr lang="en-US" sz="860" b="1" dirty="0">
                <a:solidFill>
                  <a:srgbClr val="FFFFFF"/>
                </a:solidFill>
                <a:latin typeface="Calibri" pitchFamily="34" charset="0"/>
                <a:ea typeface="Calibri" pitchFamily="34" charset="-122"/>
                <a:cs typeface="Calibri" pitchFamily="34" charset="-120"/>
              </a:rPr>
              <a:t>Alert</a:t>
            </a:r>
            <a:endParaRPr lang="en-US" sz="860" dirty="0"/>
          </a:p>
        </p:txBody>
      </p:sp>
      <p:sp>
        <p:nvSpPr>
          <p:cNvPr id="39" name="Shape 29"/>
          <p:cNvSpPr/>
          <p:nvPr/>
        </p:nvSpPr>
        <p:spPr>
          <a:xfrm>
            <a:off x="10440162" y="4887468"/>
            <a:ext cx="91440" cy="146304"/>
          </a:xfrm>
          <a:prstGeom prst="rightArrow">
            <a:avLst/>
          </a:prstGeom>
          <a:solidFill>
            <a:srgbClr val="5A7A9A"/>
          </a:solidFill>
          <a:ln/>
        </p:spPr>
      </p:sp>
      <p:sp>
        <p:nvSpPr>
          <p:cNvPr id="40" name="Shape 30"/>
          <p:cNvSpPr/>
          <p:nvPr/>
        </p:nvSpPr>
        <p:spPr>
          <a:xfrm>
            <a:off x="10543032" y="4434840"/>
            <a:ext cx="932688" cy="1051560"/>
          </a:xfrm>
          <a:prstGeom prst="roundRect">
            <a:avLst>
              <a:gd name="adj" fmla="val 7843"/>
            </a:avLst>
          </a:prstGeom>
          <a:solidFill>
            <a:srgbClr val="E4572E"/>
          </a:solidFill>
          <a:ln w="12700">
            <a:solidFill>
              <a:srgbClr val="E4572E"/>
            </a:solidFill>
            <a:prstDash val="solid"/>
          </a:ln>
        </p:spPr>
      </p:sp>
      <p:pic>
        <p:nvPicPr>
          <p:cNvPr id="41" name="Image 8" descr="/home/claude/icons/users_white.png">    </p:cNvPr>
          <p:cNvPicPr>
            <a:picLocks noChangeAspect="1"/>
          </p:cNvPicPr>
          <p:nvPr/>
        </p:nvPicPr>
        <p:blipFill>
          <a:blip r:embed="rId9"/>
          <a:stretch>
            <a:fillRect/>
          </a:stretch>
        </p:blipFill>
        <p:spPr>
          <a:xfrm>
            <a:off x="10863072" y="4526280"/>
            <a:ext cx="292608" cy="292608"/>
          </a:xfrm>
          <a:prstGeom prst="rect">
            <a:avLst/>
          </a:prstGeom>
        </p:spPr>
      </p:pic>
      <p:sp>
        <p:nvSpPr>
          <p:cNvPr id="42" name="Text 31"/>
          <p:cNvSpPr/>
          <p:nvPr/>
        </p:nvSpPr>
        <p:spPr>
          <a:xfrm>
            <a:off x="10561320" y="4837176"/>
            <a:ext cx="896112" cy="411480"/>
          </a:xfrm>
          <a:prstGeom prst="rect">
            <a:avLst/>
          </a:prstGeom>
          <a:noFill/>
          <a:ln/>
        </p:spPr>
        <p:txBody>
          <a:bodyPr wrap="square" lIns="0" tIns="0" rIns="0" bIns="0" rtlCol="0" anchor="t"/>
          <a:lstStyle/>
          <a:p>
            <a:pPr algn="ctr" indent="0" marL="0">
              <a:lnSpc>
                <a:spcPct val="100000"/>
              </a:lnSpc>
              <a:buNone/>
            </a:pPr>
            <a:r>
              <a:rPr lang="en-US" sz="860" b="1" dirty="0">
                <a:solidFill>
                  <a:srgbClr val="FFFFFF"/>
                </a:solidFill>
                <a:latin typeface="Calibri" pitchFamily="34" charset="0"/>
                <a:ea typeface="Calibri" pitchFamily="34" charset="-122"/>
                <a:cs typeface="Calibri" pitchFamily="34" charset="-120"/>
              </a:rPr>
              <a:t>Rescue</a:t>
            </a:r>
            <a:endParaRPr lang="en-US" sz="860" dirty="0"/>
          </a:p>
          <a:p>
            <a:pPr algn="ctr" indent="0" marL="0">
              <a:lnSpc>
                <a:spcPct val="100000"/>
              </a:lnSpc>
              <a:buNone/>
            </a:pPr>
            <a:r>
              <a:rPr lang="en-US" sz="860" b="1" dirty="0">
                <a:solidFill>
                  <a:srgbClr val="FFFFFF"/>
                </a:solidFill>
                <a:latin typeface="Calibri" pitchFamily="34" charset="0"/>
                <a:ea typeface="Calibri" pitchFamily="34" charset="-122"/>
                <a:cs typeface="Calibri" pitchFamily="34" charset="-120"/>
              </a:rPr>
              <a:t>Team</a:t>
            </a:r>
            <a:endParaRPr lang="en-US" sz="860" dirty="0"/>
          </a:p>
        </p:txBody>
      </p:sp>
      <p:sp>
        <p:nvSpPr>
          <p:cNvPr id="43" name="Text 32"/>
          <p:cNvSpPr/>
          <p:nvPr/>
        </p:nvSpPr>
        <p:spPr>
          <a:xfrm>
            <a:off x="457200" y="6537960"/>
            <a:ext cx="7315200" cy="274320"/>
          </a:xfrm>
          <a:prstGeom prst="rect">
            <a:avLst/>
          </a:prstGeom>
          <a:noFill/>
          <a:ln/>
        </p:spPr>
        <p:txBody>
          <a:bodyPr wrap="square" lIns="0" tIns="0" rIns="0" bIns="0" rtlCol="0" anchor="ctr"/>
          <a:lstStyle/>
          <a:p>
            <a:pPr indent="0" marL="0">
              <a:buNone/>
            </a:pPr>
            <a:r>
              <a:rPr lang="en-US" sz="900" i="1" dirty="0">
                <a:solidFill>
                  <a:srgbClr val="5B6B84"/>
                </a:solidFill>
                <a:latin typeface="Calibri" pitchFamily="34" charset="0"/>
                <a:ea typeface="Calibri" pitchFamily="34" charset="-122"/>
                <a:cs typeface="Calibri" pitchFamily="34" charset="-120"/>
              </a:rPr>
              <a:t>Multi-Agent System for Disaster Management</a:t>
            </a:r>
            <a:endParaRPr lang="en-US" sz="900" dirty="0"/>
          </a:p>
        </p:txBody>
      </p:sp>
      <p:sp>
        <p:nvSpPr>
          <p:cNvPr id="44" name="Text 33"/>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5B6B8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23D"/>
        </a:solidFill>
      </p:bgPr>
    </p:bg>
    <p:spTree>
      <p:nvGrpSpPr>
        <p:cNvPr id="1" name=""/>
        <p:cNvGrpSpPr/>
        <p:nvPr/>
      </p:nvGrpSpPr>
      <p:grpSpPr>
        <a:xfrm>
          <a:off x="0" y="0"/>
          <a:ext cx="0" cy="0"/>
          <a:chOff x="0" y="0"/>
          <a:chExt cx="0" cy="0"/>
        </a:xfrm>
      </p:grpSpPr>
      <p:sp>
        <p:nvSpPr>
          <p:cNvPr id="2" name="Text 0"/>
          <p:cNvSpPr/>
          <p:nvPr/>
        </p:nvSpPr>
        <p:spPr>
          <a:xfrm>
            <a:off x="457200" y="365760"/>
            <a:ext cx="11247120" cy="5486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Advantages, Tools and Conclusion</a:t>
            </a:r>
            <a:endParaRPr lang="en-US" sz="2600" dirty="0"/>
          </a:p>
        </p:txBody>
      </p:sp>
      <p:sp>
        <p:nvSpPr>
          <p:cNvPr id="3" name="Shape 1"/>
          <p:cNvSpPr/>
          <p:nvPr/>
        </p:nvSpPr>
        <p:spPr>
          <a:xfrm>
            <a:off x="475488" y="914400"/>
            <a:ext cx="457200" cy="36576"/>
          </a:xfrm>
          <a:prstGeom prst="rect">
            <a:avLst/>
          </a:prstGeom>
          <a:solidFill>
            <a:srgbClr val="E4572E"/>
          </a:solidFill>
          <a:ln/>
        </p:spPr>
      </p:sp>
      <p:sp>
        <p:nvSpPr>
          <p:cNvPr id="4" name="Text 2"/>
          <p:cNvSpPr/>
          <p:nvPr/>
        </p:nvSpPr>
        <p:spPr>
          <a:xfrm>
            <a:off x="502920" y="1143000"/>
            <a:ext cx="3657600" cy="256032"/>
          </a:xfrm>
          <a:prstGeom prst="rect">
            <a:avLst/>
          </a:prstGeom>
          <a:noFill/>
          <a:ln/>
        </p:spPr>
        <p:txBody>
          <a:bodyPr wrap="square" lIns="0" tIns="0" rIns="0" bIns="0" rtlCol="0" anchor="ctr"/>
          <a:lstStyle/>
          <a:p>
            <a:pPr indent="0" marL="0">
              <a:buNone/>
            </a:pPr>
            <a:r>
              <a:rPr lang="en-US" sz="1100" b="1" spc="150" kern="0" dirty="0">
                <a:solidFill>
                  <a:srgbClr val="5A7A9A"/>
                </a:solidFill>
                <a:latin typeface="Calibri" pitchFamily="34" charset="0"/>
                <a:ea typeface="Calibri" pitchFamily="34" charset="-122"/>
                <a:cs typeface="Calibri" pitchFamily="34" charset="-120"/>
              </a:rPr>
              <a:t>ADVANTAGES</a:t>
            </a:r>
            <a:endParaRPr lang="en-US" sz="1100" dirty="0"/>
          </a:p>
        </p:txBody>
      </p:sp>
      <p:pic>
        <p:nvPicPr>
          <p:cNvPr id="5" name="Image 0" descr="/home/claude/icons/check_orange.png">    </p:cNvPr>
          <p:cNvPicPr>
            <a:picLocks noChangeAspect="1"/>
          </p:cNvPicPr>
          <p:nvPr/>
        </p:nvPicPr>
        <p:blipFill>
          <a:blip r:embed="rId1"/>
          <a:stretch>
            <a:fillRect/>
          </a:stretch>
        </p:blipFill>
        <p:spPr>
          <a:xfrm>
            <a:off x="502920" y="1554480"/>
            <a:ext cx="256032" cy="256032"/>
          </a:xfrm>
          <a:prstGeom prst="rect">
            <a:avLst/>
          </a:prstGeom>
        </p:spPr>
      </p:pic>
      <p:sp>
        <p:nvSpPr>
          <p:cNvPr id="6" name="Text 3"/>
          <p:cNvSpPr/>
          <p:nvPr/>
        </p:nvSpPr>
        <p:spPr>
          <a:xfrm>
            <a:off x="850392" y="1508760"/>
            <a:ext cx="2377440" cy="457200"/>
          </a:xfrm>
          <a:prstGeom prst="rect">
            <a:avLst/>
          </a:prstGeom>
          <a:noFill/>
          <a:ln/>
        </p:spPr>
        <p:txBody>
          <a:bodyPr wrap="square" lIns="0" tIns="0" rIns="0" bIns="0" rtlCol="0" anchor="t"/>
          <a:lstStyle/>
          <a:p>
            <a:pPr indent="0" marL="0">
              <a:lnSpc>
                <a:spcPct val="110000"/>
              </a:lnSpc>
              <a:buNone/>
            </a:pPr>
            <a:r>
              <a:rPr lang="en-US" sz="1100" dirty="0">
                <a:solidFill>
                  <a:srgbClr val="D9E4F1"/>
                </a:solidFill>
                <a:latin typeface="Calibri" pitchFamily="34" charset="0"/>
                <a:ea typeface="Calibri" pitchFamily="34" charset="-122"/>
                <a:cs typeface="Calibri" pitchFamily="34" charset="-120"/>
              </a:rPr>
              <a:t>Faster disaster detection</a:t>
            </a:r>
            <a:endParaRPr lang="en-US" sz="1100" dirty="0"/>
          </a:p>
        </p:txBody>
      </p:sp>
      <p:pic>
        <p:nvPicPr>
          <p:cNvPr id="7" name="Image 1" descr="/home/claude/icons/check_orange.png">    </p:cNvPr>
          <p:cNvPicPr>
            <a:picLocks noChangeAspect="1"/>
          </p:cNvPicPr>
          <p:nvPr/>
        </p:nvPicPr>
        <p:blipFill>
          <a:blip r:embed="rId2"/>
          <a:stretch>
            <a:fillRect/>
          </a:stretch>
        </p:blipFill>
        <p:spPr>
          <a:xfrm>
            <a:off x="3291840" y="1554480"/>
            <a:ext cx="256032" cy="256032"/>
          </a:xfrm>
          <a:prstGeom prst="rect">
            <a:avLst/>
          </a:prstGeom>
        </p:spPr>
      </p:pic>
      <p:sp>
        <p:nvSpPr>
          <p:cNvPr id="8" name="Text 4"/>
          <p:cNvSpPr/>
          <p:nvPr/>
        </p:nvSpPr>
        <p:spPr>
          <a:xfrm>
            <a:off x="3639312" y="1508760"/>
            <a:ext cx="2377440" cy="457200"/>
          </a:xfrm>
          <a:prstGeom prst="rect">
            <a:avLst/>
          </a:prstGeom>
          <a:noFill/>
          <a:ln/>
        </p:spPr>
        <p:txBody>
          <a:bodyPr wrap="square" lIns="0" tIns="0" rIns="0" bIns="0" rtlCol="0" anchor="t"/>
          <a:lstStyle/>
          <a:p>
            <a:pPr indent="0" marL="0">
              <a:lnSpc>
                <a:spcPct val="110000"/>
              </a:lnSpc>
              <a:buNone/>
            </a:pPr>
            <a:r>
              <a:rPr lang="en-US" sz="1100" dirty="0">
                <a:solidFill>
                  <a:srgbClr val="D9E4F1"/>
                </a:solidFill>
                <a:latin typeface="Calibri" pitchFamily="34" charset="0"/>
                <a:ea typeface="Calibri" pitchFamily="34" charset="-122"/>
                <a:cs typeface="Calibri" pitchFamily="34" charset="-120"/>
              </a:rPr>
              <a:t>Real-time response</a:t>
            </a:r>
            <a:endParaRPr lang="en-US" sz="1100" dirty="0"/>
          </a:p>
        </p:txBody>
      </p:sp>
      <p:pic>
        <p:nvPicPr>
          <p:cNvPr id="9" name="Image 2" descr="/home/claude/icons/check_orange.png">    </p:cNvPr>
          <p:cNvPicPr>
            <a:picLocks noChangeAspect="1"/>
          </p:cNvPicPr>
          <p:nvPr/>
        </p:nvPicPr>
        <p:blipFill>
          <a:blip r:embed="rId3"/>
          <a:stretch>
            <a:fillRect/>
          </a:stretch>
        </p:blipFill>
        <p:spPr>
          <a:xfrm>
            <a:off x="502920" y="2286000"/>
            <a:ext cx="256032" cy="256032"/>
          </a:xfrm>
          <a:prstGeom prst="rect">
            <a:avLst/>
          </a:prstGeom>
        </p:spPr>
      </p:pic>
      <p:sp>
        <p:nvSpPr>
          <p:cNvPr id="10" name="Text 5"/>
          <p:cNvSpPr/>
          <p:nvPr/>
        </p:nvSpPr>
        <p:spPr>
          <a:xfrm>
            <a:off x="850392" y="2240280"/>
            <a:ext cx="2377440" cy="457200"/>
          </a:xfrm>
          <a:prstGeom prst="rect">
            <a:avLst/>
          </a:prstGeom>
          <a:noFill/>
          <a:ln/>
        </p:spPr>
        <p:txBody>
          <a:bodyPr wrap="square" lIns="0" tIns="0" rIns="0" bIns="0" rtlCol="0" anchor="t"/>
          <a:lstStyle/>
          <a:p>
            <a:pPr indent="0" marL="0">
              <a:lnSpc>
                <a:spcPct val="110000"/>
              </a:lnSpc>
              <a:buNone/>
            </a:pPr>
            <a:r>
              <a:rPr lang="en-US" sz="1100" dirty="0">
                <a:solidFill>
                  <a:srgbClr val="D9E4F1"/>
                </a:solidFill>
                <a:latin typeface="Calibri" pitchFamily="34" charset="0"/>
                <a:ea typeface="Calibri" pitchFamily="34" charset="-122"/>
                <a:cs typeface="Calibri" pitchFamily="34" charset="-120"/>
              </a:rPr>
              <a:t>Distributed workload among agents</a:t>
            </a:r>
            <a:endParaRPr lang="en-US" sz="1100" dirty="0"/>
          </a:p>
        </p:txBody>
      </p:sp>
      <p:pic>
        <p:nvPicPr>
          <p:cNvPr id="11" name="Image 3" descr="/home/claude/icons/check_orange.png">    </p:cNvPr>
          <p:cNvPicPr>
            <a:picLocks noChangeAspect="1"/>
          </p:cNvPicPr>
          <p:nvPr/>
        </p:nvPicPr>
        <p:blipFill>
          <a:blip r:embed="rId4"/>
          <a:stretch>
            <a:fillRect/>
          </a:stretch>
        </p:blipFill>
        <p:spPr>
          <a:xfrm>
            <a:off x="3291840" y="2286000"/>
            <a:ext cx="256032" cy="256032"/>
          </a:xfrm>
          <a:prstGeom prst="rect">
            <a:avLst/>
          </a:prstGeom>
        </p:spPr>
      </p:pic>
      <p:sp>
        <p:nvSpPr>
          <p:cNvPr id="12" name="Text 6"/>
          <p:cNvSpPr/>
          <p:nvPr/>
        </p:nvSpPr>
        <p:spPr>
          <a:xfrm>
            <a:off x="3639312" y="2240280"/>
            <a:ext cx="2377440" cy="457200"/>
          </a:xfrm>
          <a:prstGeom prst="rect">
            <a:avLst/>
          </a:prstGeom>
          <a:noFill/>
          <a:ln/>
        </p:spPr>
        <p:txBody>
          <a:bodyPr wrap="square" lIns="0" tIns="0" rIns="0" bIns="0" rtlCol="0" anchor="t"/>
          <a:lstStyle/>
          <a:p>
            <a:pPr indent="0" marL="0">
              <a:lnSpc>
                <a:spcPct val="110000"/>
              </a:lnSpc>
              <a:buNone/>
            </a:pPr>
            <a:r>
              <a:rPr lang="en-US" sz="1100" dirty="0">
                <a:solidFill>
                  <a:srgbClr val="D9E4F1"/>
                </a:solidFill>
                <a:latin typeface="Calibri" pitchFamily="34" charset="0"/>
                <a:ea typeface="Calibri" pitchFamily="34" charset="-122"/>
                <a:cs typeface="Calibri" pitchFamily="34" charset="-120"/>
              </a:rPr>
              <a:t>Improved coordination</a:t>
            </a:r>
            <a:endParaRPr lang="en-US" sz="1100" dirty="0"/>
          </a:p>
        </p:txBody>
      </p:sp>
      <p:pic>
        <p:nvPicPr>
          <p:cNvPr id="13" name="Image 4" descr="/home/claude/icons/check_orange.png">    </p:cNvPr>
          <p:cNvPicPr>
            <a:picLocks noChangeAspect="1"/>
          </p:cNvPicPr>
          <p:nvPr/>
        </p:nvPicPr>
        <p:blipFill>
          <a:blip r:embed="rId5"/>
          <a:stretch>
            <a:fillRect/>
          </a:stretch>
        </p:blipFill>
        <p:spPr>
          <a:xfrm>
            <a:off x="502920" y="3017520"/>
            <a:ext cx="256032" cy="256032"/>
          </a:xfrm>
          <a:prstGeom prst="rect">
            <a:avLst/>
          </a:prstGeom>
        </p:spPr>
      </p:pic>
      <p:sp>
        <p:nvSpPr>
          <p:cNvPr id="14" name="Text 7"/>
          <p:cNvSpPr/>
          <p:nvPr/>
        </p:nvSpPr>
        <p:spPr>
          <a:xfrm>
            <a:off x="850392" y="2971800"/>
            <a:ext cx="2377440" cy="457200"/>
          </a:xfrm>
          <a:prstGeom prst="rect">
            <a:avLst/>
          </a:prstGeom>
          <a:noFill/>
          <a:ln/>
        </p:spPr>
        <p:txBody>
          <a:bodyPr wrap="square" lIns="0" tIns="0" rIns="0" bIns="0" rtlCol="0" anchor="t"/>
          <a:lstStyle/>
          <a:p>
            <a:pPr indent="0" marL="0">
              <a:lnSpc>
                <a:spcPct val="110000"/>
              </a:lnSpc>
              <a:buNone/>
            </a:pPr>
            <a:r>
              <a:rPr lang="en-US" sz="1100" dirty="0">
                <a:solidFill>
                  <a:srgbClr val="D9E4F1"/>
                </a:solidFill>
                <a:latin typeface="Calibri" pitchFamily="34" charset="0"/>
                <a:ea typeface="Calibri" pitchFamily="34" charset="-122"/>
                <a:cs typeface="Calibri" pitchFamily="34" charset="-120"/>
              </a:rPr>
              <a:t>Scalable for large disaster areas</a:t>
            </a:r>
            <a:endParaRPr lang="en-US" sz="1100" dirty="0"/>
          </a:p>
        </p:txBody>
      </p:sp>
      <p:pic>
        <p:nvPicPr>
          <p:cNvPr id="15" name="Image 5" descr="/home/claude/icons/check_orange.png">    </p:cNvPr>
          <p:cNvPicPr>
            <a:picLocks noChangeAspect="1"/>
          </p:cNvPicPr>
          <p:nvPr/>
        </p:nvPicPr>
        <p:blipFill>
          <a:blip r:embed="rId6"/>
          <a:stretch>
            <a:fillRect/>
          </a:stretch>
        </p:blipFill>
        <p:spPr>
          <a:xfrm>
            <a:off x="3291840" y="3017520"/>
            <a:ext cx="256032" cy="256032"/>
          </a:xfrm>
          <a:prstGeom prst="rect">
            <a:avLst/>
          </a:prstGeom>
        </p:spPr>
      </p:pic>
      <p:sp>
        <p:nvSpPr>
          <p:cNvPr id="16" name="Text 8"/>
          <p:cNvSpPr/>
          <p:nvPr/>
        </p:nvSpPr>
        <p:spPr>
          <a:xfrm>
            <a:off x="3639312" y="2971800"/>
            <a:ext cx="2377440" cy="457200"/>
          </a:xfrm>
          <a:prstGeom prst="rect">
            <a:avLst/>
          </a:prstGeom>
          <a:noFill/>
          <a:ln/>
        </p:spPr>
        <p:txBody>
          <a:bodyPr wrap="square" lIns="0" tIns="0" rIns="0" bIns="0" rtlCol="0" anchor="t"/>
          <a:lstStyle/>
          <a:p>
            <a:pPr indent="0" marL="0">
              <a:lnSpc>
                <a:spcPct val="110000"/>
              </a:lnSpc>
              <a:buNone/>
            </a:pPr>
            <a:r>
              <a:rPr lang="en-US" sz="1100" dirty="0">
                <a:solidFill>
                  <a:srgbClr val="D9E4F1"/>
                </a:solidFill>
                <a:latin typeface="Calibri" pitchFamily="34" charset="0"/>
                <a:ea typeface="Calibri" pitchFamily="34" charset="-122"/>
                <a:cs typeface="Calibri" pitchFamily="34" charset="-120"/>
              </a:rPr>
              <a:t>Reduced dependence on a single point</a:t>
            </a:r>
            <a:endParaRPr lang="en-US" sz="1100" dirty="0"/>
          </a:p>
        </p:txBody>
      </p:sp>
      <p:sp>
        <p:nvSpPr>
          <p:cNvPr id="17" name="Text 9"/>
          <p:cNvSpPr/>
          <p:nvPr/>
        </p:nvSpPr>
        <p:spPr>
          <a:xfrm>
            <a:off x="502920" y="3794760"/>
            <a:ext cx="4572000" cy="256032"/>
          </a:xfrm>
          <a:prstGeom prst="rect">
            <a:avLst/>
          </a:prstGeom>
          <a:noFill/>
          <a:ln/>
        </p:spPr>
        <p:txBody>
          <a:bodyPr wrap="square" lIns="0" tIns="0" rIns="0" bIns="0" rtlCol="0" anchor="ctr"/>
          <a:lstStyle/>
          <a:p>
            <a:pPr indent="0" marL="0">
              <a:buNone/>
            </a:pPr>
            <a:r>
              <a:rPr lang="en-US" sz="1100" b="1" spc="150" kern="0" dirty="0">
                <a:solidFill>
                  <a:srgbClr val="5A7A9A"/>
                </a:solidFill>
                <a:latin typeface="Calibri" pitchFamily="34" charset="0"/>
                <a:ea typeface="Calibri" pitchFamily="34" charset="-122"/>
                <a:cs typeface="Calibri" pitchFamily="34" charset="-120"/>
              </a:rPr>
              <a:t>AI / TECHNICAL TOOLS</a:t>
            </a:r>
            <a:endParaRPr lang="en-US" sz="1100" dirty="0"/>
          </a:p>
        </p:txBody>
      </p:sp>
      <p:sp>
        <p:nvSpPr>
          <p:cNvPr id="18" name="Shape 10"/>
          <p:cNvSpPr/>
          <p:nvPr/>
        </p:nvSpPr>
        <p:spPr>
          <a:xfrm>
            <a:off x="502920" y="4133088"/>
            <a:ext cx="1662379" cy="384048"/>
          </a:xfrm>
          <a:prstGeom prst="roundRect">
            <a:avLst>
              <a:gd name="adj" fmla="val 50000"/>
            </a:avLst>
          </a:prstGeom>
          <a:solidFill>
            <a:srgbClr val="1C3559"/>
          </a:solidFill>
          <a:ln w="12700">
            <a:solidFill>
              <a:srgbClr val="5A7A9A"/>
            </a:solidFill>
            <a:prstDash val="solid"/>
          </a:ln>
        </p:spPr>
      </p:sp>
      <p:sp>
        <p:nvSpPr>
          <p:cNvPr id="19" name="Text 11"/>
          <p:cNvSpPr/>
          <p:nvPr/>
        </p:nvSpPr>
        <p:spPr>
          <a:xfrm>
            <a:off x="502920" y="4133088"/>
            <a:ext cx="1662379"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Multi-Agent Systems</a:t>
            </a:r>
            <a:endParaRPr lang="en-US" sz="1000" dirty="0"/>
          </a:p>
        </p:txBody>
      </p:sp>
      <p:sp>
        <p:nvSpPr>
          <p:cNvPr id="20" name="Shape 12"/>
          <p:cNvSpPr/>
          <p:nvPr/>
        </p:nvSpPr>
        <p:spPr>
          <a:xfrm>
            <a:off x="2302459" y="4133088"/>
            <a:ext cx="1587398" cy="384048"/>
          </a:xfrm>
          <a:prstGeom prst="roundRect">
            <a:avLst>
              <a:gd name="adj" fmla="val 50000"/>
            </a:avLst>
          </a:prstGeom>
          <a:solidFill>
            <a:srgbClr val="1C3559"/>
          </a:solidFill>
          <a:ln w="12700">
            <a:solidFill>
              <a:srgbClr val="5A7A9A"/>
            </a:solidFill>
            <a:prstDash val="solid"/>
          </a:ln>
        </p:spPr>
      </p:sp>
      <p:sp>
        <p:nvSpPr>
          <p:cNvPr id="21" name="Text 13"/>
          <p:cNvSpPr/>
          <p:nvPr/>
        </p:nvSpPr>
        <p:spPr>
          <a:xfrm>
            <a:off x="2302459" y="4133088"/>
            <a:ext cx="158739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Intelligent Agents</a:t>
            </a:r>
            <a:endParaRPr lang="en-US" sz="1000" dirty="0"/>
          </a:p>
        </p:txBody>
      </p:sp>
      <p:sp>
        <p:nvSpPr>
          <p:cNvPr id="22" name="Shape 14"/>
          <p:cNvSpPr/>
          <p:nvPr/>
        </p:nvSpPr>
        <p:spPr>
          <a:xfrm>
            <a:off x="4027018" y="4133088"/>
            <a:ext cx="762610" cy="384048"/>
          </a:xfrm>
          <a:prstGeom prst="roundRect">
            <a:avLst>
              <a:gd name="adj" fmla="val 50000"/>
            </a:avLst>
          </a:prstGeom>
          <a:solidFill>
            <a:srgbClr val="1C3559"/>
          </a:solidFill>
          <a:ln w="12700">
            <a:solidFill>
              <a:srgbClr val="5A7A9A"/>
            </a:solidFill>
            <a:prstDash val="solid"/>
          </a:ln>
        </p:spPr>
      </p:sp>
      <p:sp>
        <p:nvSpPr>
          <p:cNvPr id="23" name="Text 15"/>
          <p:cNvSpPr/>
          <p:nvPr/>
        </p:nvSpPr>
        <p:spPr>
          <a:xfrm>
            <a:off x="4027018" y="4133088"/>
            <a:ext cx="762610"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PySpark</a:t>
            </a:r>
            <a:endParaRPr lang="en-US" sz="1000" dirty="0"/>
          </a:p>
        </p:txBody>
      </p:sp>
      <p:sp>
        <p:nvSpPr>
          <p:cNvPr id="24" name="Shape 16"/>
          <p:cNvSpPr/>
          <p:nvPr/>
        </p:nvSpPr>
        <p:spPr>
          <a:xfrm>
            <a:off x="502920" y="4636008"/>
            <a:ext cx="1887322" cy="384048"/>
          </a:xfrm>
          <a:prstGeom prst="roundRect">
            <a:avLst>
              <a:gd name="adj" fmla="val 50000"/>
            </a:avLst>
          </a:prstGeom>
          <a:solidFill>
            <a:srgbClr val="1C3559"/>
          </a:solidFill>
          <a:ln w="12700">
            <a:solidFill>
              <a:srgbClr val="5A7A9A"/>
            </a:solidFill>
            <a:prstDash val="solid"/>
          </a:ln>
        </p:spPr>
      </p:sp>
      <p:sp>
        <p:nvSpPr>
          <p:cNvPr id="25" name="Text 17"/>
          <p:cNvSpPr/>
          <p:nvPr/>
        </p:nvSpPr>
        <p:spPr>
          <a:xfrm>
            <a:off x="502920" y="4636008"/>
            <a:ext cx="1887322"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Distributed Processing</a:t>
            </a:r>
            <a:endParaRPr lang="en-US" sz="1000" dirty="0"/>
          </a:p>
        </p:txBody>
      </p:sp>
      <p:sp>
        <p:nvSpPr>
          <p:cNvPr id="26" name="Shape 18"/>
          <p:cNvSpPr/>
          <p:nvPr/>
        </p:nvSpPr>
        <p:spPr>
          <a:xfrm>
            <a:off x="2527402" y="4636008"/>
            <a:ext cx="1287475" cy="384048"/>
          </a:xfrm>
          <a:prstGeom prst="roundRect">
            <a:avLst>
              <a:gd name="adj" fmla="val 50000"/>
            </a:avLst>
          </a:prstGeom>
          <a:solidFill>
            <a:srgbClr val="1C3559"/>
          </a:solidFill>
          <a:ln w="12700">
            <a:solidFill>
              <a:srgbClr val="5A7A9A"/>
            </a:solidFill>
            <a:prstDash val="solid"/>
          </a:ln>
        </p:spPr>
      </p:sp>
      <p:sp>
        <p:nvSpPr>
          <p:cNvPr id="27" name="Text 19"/>
          <p:cNvSpPr/>
          <p:nvPr/>
        </p:nvSpPr>
        <p:spPr>
          <a:xfrm>
            <a:off x="2527402" y="4636008"/>
            <a:ext cx="1287475"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Streaming Data</a:t>
            </a:r>
            <a:endParaRPr lang="en-US" sz="1000" dirty="0"/>
          </a:p>
        </p:txBody>
      </p:sp>
      <p:sp>
        <p:nvSpPr>
          <p:cNvPr id="28" name="Shape 20"/>
          <p:cNvSpPr/>
          <p:nvPr/>
        </p:nvSpPr>
        <p:spPr>
          <a:xfrm>
            <a:off x="3952037" y="4636008"/>
            <a:ext cx="1362456" cy="384048"/>
          </a:xfrm>
          <a:prstGeom prst="roundRect">
            <a:avLst>
              <a:gd name="adj" fmla="val 50000"/>
            </a:avLst>
          </a:prstGeom>
          <a:solidFill>
            <a:srgbClr val="1C3559"/>
          </a:solidFill>
          <a:ln w="12700">
            <a:solidFill>
              <a:srgbClr val="5A7A9A"/>
            </a:solidFill>
            <a:prstDash val="solid"/>
          </a:ln>
        </p:spPr>
      </p:sp>
      <p:sp>
        <p:nvSpPr>
          <p:cNvPr id="29" name="Text 21"/>
          <p:cNvSpPr/>
          <p:nvPr/>
        </p:nvSpPr>
        <p:spPr>
          <a:xfrm>
            <a:off x="3952037" y="4636008"/>
            <a:ext cx="1362456"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Sensor Networks</a:t>
            </a:r>
            <a:endParaRPr lang="en-US" sz="1000" dirty="0"/>
          </a:p>
        </p:txBody>
      </p:sp>
      <p:sp>
        <p:nvSpPr>
          <p:cNvPr id="30" name="Shape 22"/>
          <p:cNvSpPr/>
          <p:nvPr/>
        </p:nvSpPr>
        <p:spPr>
          <a:xfrm>
            <a:off x="502920" y="5349240"/>
            <a:ext cx="5394960" cy="960120"/>
          </a:xfrm>
          <a:prstGeom prst="roundRect">
            <a:avLst>
              <a:gd name="adj" fmla="val 8571"/>
            </a:avLst>
          </a:prstGeom>
          <a:solidFill>
            <a:srgbClr val="1C3559"/>
          </a:solidFill>
          <a:ln w="12700">
            <a:solidFill>
              <a:srgbClr val="2C4874"/>
            </a:solidFill>
            <a:prstDash val="solid"/>
          </a:ln>
        </p:spPr>
      </p:sp>
      <p:pic>
        <p:nvPicPr>
          <p:cNvPr id="31" name="Image 6" descr="/home/claude/icons/sensor_orange.png">    </p:cNvPr>
          <p:cNvPicPr>
            <a:picLocks noChangeAspect="1"/>
          </p:cNvPicPr>
          <p:nvPr/>
        </p:nvPicPr>
        <p:blipFill>
          <a:blip r:embed="rId7"/>
          <a:stretch>
            <a:fillRect/>
          </a:stretch>
        </p:blipFill>
        <p:spPr>
          <a:xfrm>
            <a:off x="704088" y="5532120"/>
            <a:ext cx="310896" cy="310896"/>
          </a:xfrm>
          <a:prstGeom prst="rect">
            <a:avLst/>
          </a:prstGeom>
        </p:spPr>
      </p:pic>
      <p:sp>
        <p:nvSpPr>
          <p:cNvPr id="32" name="Text 23"/>
          <p:cNvSpPr/>
          <p:nvPr/>
        </p:nvSpPr>
        <p:spPr>
          <a:xfrm>
            <a:off x="1097280" y="5532120"/>
            <a:ext cx="1112520"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Sensor Agent</a:t>
            </a:r>
            <a:endParaRPr lang="en-US" sz="1000" dirty="0"/>
          </a:p>
        </p:txBody>
      </p:sp>
      <p:sp>
        <p:nvSpPr>
          <p:cNvPr id="33" name="Shape 24"/>
          <p:cNvSpPr/>
          <p:nvPr/>
        </p:nvSpPr>
        <p:spPr>
          <a:xfrm>
            <a:off x="2301240" y="5486400"/>
            <a:ext cx="914" cy="457200"/>
          </a:xfrm>
          <a:prstGeom prst="line">
            <a:avLst/>
          </a:prstGeom>
          <a:noFill/>
          <a:ln w="12700">
            <a:solidFill>
              <a:srgbClr val="2C4874"/>
            </a:solidFill>
            <a:prstDash val="solid"/>
          </a:ln>
        </p:spPr>
      </p:sp>
      <p:pic>
        <p:nvPicPr>
          <p:cNvPr id="34" name="Image 7" descr="/home/claude/icons/decision_orange.png">    </p:cNvPr>
          <p:cNvPicPr>
            <a:picLocks noChangeAspect="1"/>
          </p:cNvPicPr>
          <p:nvPr/>
        </p:nvPicPr>
        <p:blipFill>
          <a:blip r:embed="rId8"/>
          <a:stretch>
            <a:fillRect/>
          </a:stretch>
        </p:blipFill>
        <p:spPr>
          <a:xfrm>
            <a:off x="2502408" y="5532120"/>
            <a:ext cx="310896" cy="310896"/>
          </a:xfrm>
          <a:prstGeom prst="rect">
            <a:avLst/>
          </a:prstGeom>
        </p:spPr>
      </p:pic>
      <p:sp>
        <p:nvSpPr>
          <p:cNvPr id="35" name="Text 25"/>
          <p:cNvSpPr/>
          <p:nvPr/>
        </p:nvSpPr>
        <p:spPr>
          <a:xfrm>
            <a:off x="2895600" y="5532120"/>
            <a:ext cx="1112520"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Decision Agent</a:t>
            </a:r>
            <a:endParaRPr lang="en-US" sz="1000" dirty="0"/>
          </a:p>
        </p:txBody>
      </p:sp>
      <p:sp>
        <p:nvSpPr>
          <p:cNvPr id="36" name="Shape 26"/>
          <p:cNvSpPr/>
          <p:nvPr/>
        </p:nvSpPr>
        <p:spPr>
          <a:xfrm>
            <a:off x="4099560" y="5486400"/>
            <a:ext cx="914" cy="457200"/>
          </a:xfrm>
          <a:prstGeom prst="line">
            <a:avLst/>
          </a:prstGeom>
          <a:noFill/>
          <a:ln w="12700">
            <a:solidFill>
              <a:srgbClr val="2C4874"/>
            </a:solidFill>
            <a:prstDash val="solid"/>
          </a:ln>
        </p:spPr>
      </p:sp>
      <p:pic>
        <p:nvPicPr>
          <p:cNvPr id="37" name="Image 8" descr="/home/claude/icons/comm_orange.png">    </p:cNvPr>
          <p:cNvPicPr>
            <a:picLocks noChangeAspect="1"/>
          </p:cNvPicPr>
          <p:nvPr/>
        </p:nvPicPr>
        <p:blipFill>
          <a:blip r:embed="rId9"/>
          <a:stretch>
            <a:fillRect/>
          </a:stretch>
        </p:blipFill>
        <p:spPr>
          <a:xfrm>
            <a:off x="4300728" y="5532120"/>
            <a:ext cx="310896" cy="310896"/>
          </a:xfrm>
          <a:prstGeom prst="rect">
            <a:avLst/>
          </a:prstGeom>
        </p:spPr>
      </p:pic>
      <p:sp>
        <p:nvSpPr>
          <p:cNvPr id="38" name="Text 27"/>
          <p:cNvSpPr/>
          <p:nvPr/>
        </p:nvSpPr>
        <p:spPr>
          <a:xfrm>
            <a:off x="4693920" y="5532120"/>
            <a:ext cx="1112520" cy="310896"/>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Communication Agent</a:t>
            </a:r>
            <a:endParaRPr lang="en-US" sz="1000" dirty="0"/>
          </a:p>
        </p:txBody>
      </p:sp>
      <p:sp>
        <p:nvSpPr>
          <p:cNvPr id="39" name="Text 28"/>
          <p:cNvSpPr/>
          <p:nvPr/>
        </p:nvSpPr>
        <p:spPr>
          <a:xfrm>
            <a:off x="685800" y="5943600"/>
            <a:ext cx="5029200" cy="274320"/>
          </a:xfrm>
          <a:prstGeom prst="rect">
            <a:avLst/>
          </a:prstGeom>
          <a:noFill/>
          <a:ln/>
        </p:spPr>
        <p:txBody>
          <a:bodyPr wrap="square" lIns="0" tIns="0" rIns="0" bIns="0" rtlCol="0" anchor="ctr"/>
          <a:lstStyle/>
          <a:p>
            <a:pPr indent="0" marL="0">
              <a:buNone/>
            </a:pPr>
            <a:r>
              <a:rPr lang="en-US" sz="900" i="1" dirty="0">
                <a:solidFill>
                  <a:srgbClr val="5A7A9A"/>
                </a:solidFill>
                <a:latin typeface="Calibri" pitchFamily="34" charset="0"/>
                <a:ea typeface="Calibri" pitchFamily="34" charset="-122"/>
                <a:cs typeface="Calibri" pitchFamily="34" charset="-120"/>
              </a:rPr>
              <a:t>Working together end-to-end, from raw signal to emergency action.</a:t>
            </a:r>
            <a:endParaRPr lang="en-US" sz="900" dirty="0"/>
          </a:p>
        </p:txBody>
      </p:sp>
      <p:sp>
        <p:nvSpPr>
          <p:cNvPr id="40" name="Shape 29"/>
          <p:cNvSpPr/>
          <p:nvPr/>
        </p:nvSpPr>
        <p:spPr>
          <a:xfrm>
            <a:off x="6263640" y="1143000"/>
            <a:ext cx="5440680" cy="5166360"/>
          </a:xfrm>
          <a:prstGeom prst="roundRect">
            <a:avLst>
              <a:gd name="adj" fmla="val 1770"/>
            </a:avLst>
          </a:prstGeom>
          <a:solidFill>
            <a:srgbClr val="1C3559"/>
          </a:solidFill>
          <a:ln w="12700">
            <a:solidFill>
              <a:srgbClr val="2C4874"/>
            </a:solidFill>
            <a:prstDash val="solid"/>
          </a:ln>
        </p:spPr>
      </p:sp>
      <p:sp>
        <p:nvSpPr>
          <p:cNvPr id="41" name="Shape 30"/>
          <p:cNvSpPr/>
          <p:nvPr/>
        </p:nvSpPr>
        <p:spPr>
          <a:xfrm>
            <a:off x="6537960" y="1417320"/>
            <a:ext cx="512064" cy="512064"/>
          </a:xfrm>
          <a:prstGeom prst="ellipse">
            <a:avLst/>
          </a:prstGeom>
          <a:solidFill>
            <a:srgbClr val="13223D"/>
          </a:solidFill>
          <a:ln/>
        </p:spPr>
      </p:sp>
      <p:pic>
        <p:nvPicPr>
          <p:cNvPr id="42" name="Image 9" descr="/home/claude/icons/sync_orange.png">    </p:cNvPr>
          <p:cNvPicPr>
            <a:picLocks noChangeAspect="1"/>
          </p:cNvPicPr>
          <p:nvPr/>
        </p:nvPicPr>
        <p:blipFill>
          <a:blip r:embed="rId10"/>
          <a:stretch>
            <a:fillRect/>
          </a:stretch>
        </p:blipFill>
        <p:spPr>
          <a:xfrm>
            <a:off x="6671097" y="1550457"/>
            <a:ext cx="245791" cy="245791"/>
          </a:xfrm>
          <a:prstGeom prst="rect">
            <a:avLst/>
          </a:prstGeom>
        </p:spPr>
      </p:pic>
      <p:sp>
        <p:nvSpPr>
          <p:cNvPr id="43" name="Text 31"/>
          <p:cNvSpPr/>
          <p:nvPr/>
        </p:nvSpPr>
        <p:spPr>
          <a:xfrm>
            <a:off x="7178040" y="1417320"/>
            <a:ext cx="3657600" cy="512064"/>
          </a:xfrm>
          <a:prstGeom prst="rect">
            <a:avLst/>
          </a:prstGeom>
          <a:noFill/>
          <a:ln/>
        </p:spPr>
        <p:txBody>
          <a:bodyPr wrap="square" lIns="0" tIns="0" rIns="0" bIns="0" rtlCol="0" anchor="ctr"/>
          <a:lstStyle/>
          <a:p>
            <a:pPr indent="0" marL="0">
              <a:buNone/>
            </a:pPr>
            <a:r>
              <a:rPr lang="en-US" sz="1400" b="1" spc="150" kern="0" dirty="0">
                <a:solidFill>
                  <a:srgbClr val="5A7A9A"/>
                </a:solidFill>
                <a:latin typeface="Calibri" pitchFamily="34" charset="0"/>
                <a:ea typeface="Calibri" pitchFamily="34" charset="-122"/>
                <a:cs typeface="Calibri" pitchFamily="34" charset="-120"/>
              </a:rPr>
              <a:t>CONCLUSION</a:t>
            </a:r>
            <a:endParaRPr lang="en-US" sz="1400" dirty="0"/>
          </a:p>
        </p:txBody>
      </p:sp>
      <p:sp>
        <p:nvSpPr>
          <p:cNvPr id="44" name="Text 32"/>
          <p:cNvSpPr/>
          <p:nvPr/>
        </p:nvSpPr>
        <p:spPr>
          <a:xfrm>
            <a:off x="6537960" y="2240280"/>
            <a:ext cx="4937760" cy="1920240"/>
          </a:xfrm>
          <a:prstGeom prst="rect">
            <a:avLst/>
          </a:prstGeom>
          <a:noFill/>
          <a:ln/>
        </p:spPr>
        <p:txBody>
          <a:bodyPr wrap="square" lIns="0" tIns="0" rIns="0" bIns="0" rtlCol="0" anchor="t"/>
          <a:lstStyle/>
          <a:p>
            <a:pPr indent="0" marL="0">
              <a:lnSpc>
                <a:spcPct val="140000"/>
              </a:lnSpc>
              <a:buNone/>
            </a:pPr>
            <a:r>
              <a:rPr lang="en-US" sz="1450" dirty="0">
                <a:solidFill>
                  <a:srgbClr val="FFFFFF"/>
                </a:solidFill>
                <a:latin typeface="Calibri" pitchFamily="34" charset="0"/>
                <a:ea typeface="Calibri" pitchFamily="34" charset="-122"/>
                <a:cs typeface="Calibri" pitchFamily="34" charset="-120"/>
              </a:rPr>
              <a:t>A Multi-Agent System enables specialized AI agents to collaborate, share information, and make timely decisions during disasters. Combining intelligent agents with distributed processing such as PySpark can support scalable and responsive disaster-management systems.</a:t>
            </a:r>
            <a:endParaRPr lang="en-US" sz="1450" dirty="0"/>
          </a:p>
        </p:txBody>
      </p:sp>
      <p:sp>
        <p:nvSpPr>
          <p:cNvPr id="45" name="Shape 33"/>
          <p:cNvSpPr/>
          <p:nvPr/>
        </p:nvSpPr>
        <p:spPr>
          <a:xfrm>
            <a:off x="6556248" y="4709160"/>
            <a:ext cx="4892040" cy="18288"/>
          </a:xfrm>
          <a:prstGeom prst="rect">
            <a:avLst/>
          </a:prstGeom>
          <a:solidFill>
            <a:srgbClr val="2C4874"/>
          </a:solidFill>
          <a:ln/>
        </p:spPr>
      </p:sp>
      <p:sp>
        <p:nvSpPr>
          <p:cNvPr id="46" name="Text 34"/>
          <p:cNvSpPr/>
          <p:nvPr/>
        </p:nvSpPr>
        <p:spPr>
          <a:xfrm>
            <a:off x="6537960" y="5029200"/>
            <a:ext cx="4937760" cy="1005840"/>
          </a:xfrm>
          <a:prstGeom prst="rect">
            <a:avLst/>
          </a:prstGeom>
          <a:noFill/>
          <a:ln/>
        </p:spPr>
        <p:txBody>
          <a:bodyPr wrap="square" lIns="0" tIns="0" rIns="0" bIns="0" rtlCol="0" anchor="t"/>
          <a:lstStyle/>
          <a:p>
            <a:pPr indent="0" marL="0">
              <a:lnSpc>
                <a:spcPct val="125000"/>
              </a:lnSpc>
              <a:buNone/>
            </a:pPr>
            <a:r>
              <a:rPr lang="en-US" sz="1700" b="1" i="1" dirty="0">
                <a:solidFill>
                  <a:srgbClr val="E4572E"/>
                </a:solidFill>
                <a:latin typeface="Cambria" pitchFamily="34" charset="0"/>
                <a:ea typeface="Cambria" pitchFamily="34" charset="-122"/>
                <a:cs typeface="Cambria" pitchFamily="34" charset="-120"/>
              </a:rPr>
              <a:t>“Collaborative Intelligence for Faster Disaster Response”</a:t>
            </a:r>
            <a:endParaRPr lang="en-US" sz="1700" dirty="0"/>
          </a:p>
        </p:txBody>
      </p:sp>
      <p:sp>
        <p:nvSpPr>
          <p:cNvPr id="47" name="Text 35"/>
          <p:cNvSpPr/>
          <p:nvPr/>
        </p:nvSpPr>
        <p:spPr>
          <a:xfrm>
            <a:off x="457200" y="6537960"/>
            <a:ext cx="7315200" cy="274320"/>
          </a:xfrm>
          <a:prstGeom prst="rect">
            <a:avLst/>
          </a:prstGeom>
          <a:noFill/>
          <a:ln/>
        </p:spPr>
        <p:txBody>
          <a:bodyPr wrap="square" lIns="0" tIns="0" rIns="0" bIns="0" rtlCol="0" anchor="ctr"/>
          <a:lstStyle/>
          <a:p>
            <a:pPr indent="0" marL="0">
              <a:buNone/>
            </a:pPr>
            <a:r>
              <a:rPr lang="en-US" sz="900" i="1" dirty="0">
                <a:solidFill>
                  <a:srgbClr val="8FA3BE"/>
                </a:solidFill>
                <a:latin typeface="Calibri" pitchFamily="34" charset="0"/>
                <a:ea typeface="Calibri" pitchFamily="34" charset="-122"/>
                <a:cs typeface="Calibri" pitchFamily="34" charset="-120"/>
              </a:rPr>
              <a:t>Multi-Agent System for Disaster Management</a:t>
            </a:r>
            <a:endParaRPr lang="en-US" sz="900" dirty="0"/>
          </a:p>
        </p:txBody>
      </p:sp>
      <p:sp>
        <p:nvSpPr>
          <p:cNvPr id="48" name="Text 36"/>
          <p:cNvSpPr/>
          <p:nvPr/>
        </p:nvSpPr>
        <p:spPr>
          <a:xfrm>
            <a:off x="11521440" y="6537960"/>
            <a:ext cx="365760" cy="274320"/>
          </a:xfrm>
          <a:prstGeom prst="rect">
            <a:avLst/>
          </a:prstGeom>
          <a:noFill/>
          <a:ln/>
        </p:spPr>
        <p:txBody>
          <a:bodyPr wrap="square" lIns="0" tIns="0" rIns="0" bIns="0" rtlCol="0" anchor="ctr"/>
          <a:lstStyle/>
          <a:p>
            <a:pPr algn="r" indent="0" marL="0">
              <a:buNone/>
            </a:pPr>
            <a:r>
              <a:rPr lang="en-US" sz="900" dirty="0">
                <a:solidFill>
                  <a:srgbClr val="8FA3B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2026-09-01T03:17:19Z</dcterms:created>
  <dcterms:modified xsi:type="dcterms:W3CDTF">2026-09-01T03:17:19Z</dcterms:modified>
</cp:coreProperties>
</file>